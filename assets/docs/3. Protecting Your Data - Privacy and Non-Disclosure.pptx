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7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5739" autoAdjust="0"/>
  </p:normalViewPr>
  <p:slideViewPr>
    <p:cSldViewPr snapToGrid="0">
      <p:cViewPr varScale="1">
        <p:scale>
          <a:sx n="85" d="100"/>
          <a:sy n="85" d="100"/>
        </p:scale>
        <p:origin x="70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9965D-031B-4574-B021-B20DEAEC26FF}" type="datetimeFigureOut">
              <a:rPr lang="en-US" smtClean="0"/>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6FAFDE-888B-43D1-85AA-88ADEEA0044D}" type="slidenum">
              <a:rPr lang="en-US" smtClean="0"/>
              <a:t>‹#›</a:t>
            </a:fld>
            <a:endParaRPr lang="en-US"/>
          </a:p>
        </p:txBody>
      </p:sp>
    </p:spTree>
    <p:extLst>
      <p:ext uri="{BB962C8B-B14F-4D97-AF65-F5344CB8AC3E}">
        <p14:creationId xmlns:p14="http://schemas.microsoft.com/office/powerpoint/2010/main" val="2306115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addresses one of the most critical and often overlooked risks of AI adoption: what happens to the information you enter into AI tools. For fatherhood programs handling sensitive participant data, these considerations are not theoretical — they are an immediate operational concern.</a:t>
            </a:r>
          </a:p>
          <a:p>
            <a:r>
              <a:rPr lang="en-US"/>
              <a:t>1. Training Data Risk: On free and basic consumer tiers, the data you enter — including prompts and uploaded files — may be used to improve (train) the AI model. This means participant names, case details, or donor information could theoretically surface in the model’s future outputs. A 2026 analysis found that approximately 50% of enterprise employees use generative AI at work, and of those interactions, 77% involve real company data (IntuitionLabs, 2026). Another study observed that over 4% of AI prompts and 20% of file uploads contained sensitive corporate data in just one quarter (IntuitionLabs, 2026). Practical rule: Never enter PII into free-tier AI tools. Use pseudonyms, anonymized data, or enterprise-tier tools with explicit data protections.</a:t>
            </a:r>
          </a:p>
          <a:p>
            <a:r>
              <a:rPr lang="en-US"/>
              <a:t>2. Cloud Storage and Data Retention: Even when data is not used for model training, it is stored on the provider’s servers. Most platforms retain data for up to 30 days for abuse monitoring, even with temporary chat or privacy settings enabled. Critically, shared AI conversations have been indexed by Google, making what users assumed were private exchanges searchable by anyone — including full resumes with contact details and personal stories (Levacloud, 2025). Enterprise tiers offer zero-data-retention (ZDR) options, but free tiers do not. Practical rule: Treat every AI prompt as if it could be subpoenaed or indexed.</a:t>
            </a:r>
          </a:p>
          <a:p>
            <a:r>
              <a:rPr lang="en-US"/>
              <a:t>3. Document Uploads and Knowledge Bases: When you create knowledge bases by uploading organizational documents, those documents are processed and stored by the AI provider. The specifics vary by platform and tier. For fatherhood programs, this means curricula, intake forms, case notes, and program outcome data could be exposed if proper precautions are not taken. CISA released a best practices guide in May 2025 specifically addressing AI data security for organizations (CISA, 2025). Practical rule: Before uploading any document, ask: Does this contain PII, proprietary program content, or information covered by a non-disclosure agreement? If yes, either anonymize it first or use an enterprise-tier tool with explicit data protection guarantees.</a:t>
            </a:r>
          </a:p>
          <a:p>
            <a:r>
              <a:rPr lang="en-US"/>
              <a:t>Sources: IntuitionLabs (2026). ChatGPT data security: Preventing proprietary data leaks. Levacloud (2025). ChatGPT for nonprofits: Securing conversations and data. CISA (2025). New best practices guide for securing AI data. DataStudios (2025). ChatGPT: How to use it securely without sharing sensitive information. Cloud Security Alliance (2025). Data security within AI environments.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AD37-5FFD-843C-B67B-54857E90B9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357ED7-1D2D-8298-619F-0914A11522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921D86-DD04-233E-9EA7-F9FAC2896D70}"/>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B68D2E0-496A-A100-E20D-7B1251C45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BE2E2-2FFF-09E9-5388-3110DCFFFCF0}"/>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52474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39D11-17E1-F4F6-D755-EE4FF4713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6EC7F8-0453-BC48-13F3-A9CDBE353F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74D9CA-C8E3-7E8E-E125-76A4B64334D3}"/>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2F25F01F-EBD2-7B5C-7CFE-E11BDA5484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A18ED-884F-5565-696F-AA55D6EC263B}"/>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56442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C3C-B30F-6105-1E87-013C954D8A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17A44B-3FD6-6472-0C3A-9E6F4FB529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0F2BB1-5D5D-2A68-0972-4F86D937C7A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E5BAAD70-DADB-40C6-E382-93ABD45A9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EF37C-1273-2089-3AF6-29B2AD5CEC18}"/>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51349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6128-B893-D664-B603-56FDDB908F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5F5B82-D2A3-9A65-CD21-A2BDBD1579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DE8118-B704-695A-1591-0C7133E12D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1AA3AB-B1A3-AF1D-050D-BF277CF35B4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6436D383-AE78-FA3A-E8F8-B5A5CE64FC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9C34B8-9B33-3586-4FA6-A3F37ECDB536}"/>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224855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F899-45A4-F907-19D5-EA44096632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831A96-D43A-A257-0B1D-421FC0057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345B79-ACC6-5FD6-3E5D-579FA0C04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863D2C-B5E2-3929-3F79-02CE474286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0EFE1A-F97B-3920-D91A-93057F9B6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52BEC5-497D-7BBA-5810-2B098148DA9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8" name="Footer Placeholder 7">
            <a:extLst>
              <a:ext uri="{FF2B5EF4-FFF2-40B4-BE49-F238E27FC236}">
                <a16:creationId xmlns:a16="http://schemas.microsoft.com/office/drawing/2014/main" id="{4760E25C-4F42-B138-93D9-933F7086AF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07DB06-2D2C-5CBA-58AE-969DEF55AC16}"/>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804601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FA14-6AC4-F1BE-674A-068235536A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ADF7E9-4322-B31D-8DA5-0F2B234CD984}"/>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4" name="Footer Placeholder 3">
            <a:extLst>
              <a:ext uri="{FF2B5EF4-FFF2-40B4-BE49-F238E27FC236}">
                <a16:creationId xmlns:a16="http://schemas.microsoft.com/office/drawing/2014/main" id="{A6237361-C8F1-8FD7-4DD1-C115F447E8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D90A54-CEC7-CC6C-A9BB-F2222C586630}"/>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184173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CDA3CC-6E6C-A885-9EFE-64F2DEC9B7D7}"/>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3" name="Footer Placeholder 2">
            <a:extLst>
              <a:ext uri="{FF2B5EF4-FFF2-40B4-BE49-F238E27FC236}">
                <a16:creationId xmlns:a16="http://schemas.microsoft.com/office/drawing/2014/main" id="{ADA60FE1-D3DF-238F-EB4F-6A76973E8D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929C39-ACE1-A108-01E0-EEF5B1FD0384}"/>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215110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71F1-9FC7-76D9-FC77-0932844004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E3D721-99BC-9F0D-09E1-F345AABE9D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475784-3411-DD8B-3340-0F04F19F5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798061-9852-630A-2384-CB3FF61BE6C1}"/>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2B7A9065-9F6D-A6FB-6981-2C038368BC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5AC216-EC26-E6CF-7D46-0EC74DFFB6CD}"/>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923469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9875-A22C-430A-58A6-5A6F8FA67B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F21886-3C64-8C20-5D37-A861203DBB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F49FF4-16DA-E626-FF64-D1F1526C22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E4B28-5BC5-D0A7-CD2D-EDFC6D87BC49}"/>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0914F9DA-EA80-51FC-1B6A-2D7F408752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C0B9-4E88-5979-EB96-6091351CE4C4}"/>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149061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7D37-B112-1D57-51D2-8FD757C734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FD93FD-4920-420A-AC20-5B4B9496EE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17C23-0899-B2F4-3615-128BCCC508DD}"/>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3380696-E365-DFC2-C1B3-669DC52DA6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50BBF-E473-E4C8-ACEE-A35285CC3E89}"/>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147486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DAA374-5FBF-C5E3-1FEF-96DF8945DF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44089C-567D-7CD5-8A2D-BD5D2C6FC2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470A41-EDDE-88EC-0461-674C7808FD3A}"/>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B65E7E2-BAC9-4D6B-ED24-6D23C63E88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9D57C-98F5-08E2-2D90-C6BA344FABFE}"/>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3876043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3BF697-245B-74B9-930B-5261FCEFCF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C9B03D-8D87-4332-FB64-2E6A6AFC6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96E34-8AE9-0D6B-0946-5C0D7D6DE3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027C5DB4-2386-017A-4710-0F736BAFE1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DF0061-89A9-8734-9ABC-56DC8588B9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BCDCA-A83E-437A-9EDB-37BC55F99CA3}" type="slidenum">
              <a:rPr lang="en-US" smtClean="0"/>
              <a:t>‹#›</a:t>
            </a:fld>
            <a:endParaRPr lang="en-US"/>
          </a:p>
        </p:txBody>
      </p:sp>
    </p:spTree>
    <p:extLst>
      <p:ext uri="{BB962C8B-B14F-4D97-AF65-F5344CB8AC3E}">
        <p14:creationId xmlns:p14="http://schemas.microsoft.com/office/powerpoint/2010/main" val="3362163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itle 1"/>
          <p:cNvSpPr>
            <a:spLocks noGrp="1"/>
          </p:cNvSpPr>
          <p:nvPr>
            <p:ph type="title"/>
          </p:nvPr>
        </p:nvSpPr>
        <p:spPr>
          <a:xfrm>
            <a:off x="0" y="0"/>
            <a:ext cx="1" cy="1"/>
          </a:xfrm>
          <a:prstGeom prst="rect">
            <a:avLst/>
          </a:prstGeom>
          <a:noFill/>
          <a:ln>
            <a:noFill/>
          </a:ln>
        </p:spPr>
        <p:txBody>
          <a:bodyPr>
            <a:normAutofit fontScale="90000"/>
          </a:bodyPr>
          <a:lstStyle/>
          <a:p>
            <a:endParaRPr lang="en-US"/>
          </a:p>
        </p:txBody>
      </p:sp>
      <p:sp>
        <p:nvSpPr>
          <p:cNvPr id="2" name="Background"/>
          <p:cNvSpPr/>
          <p:nvPr/>
        </p:nvSpPr>
        <p:spPr>
          <a:xfrm>
            <a:off x="0" y="0"/>
            <a:ext cx="12192000" cy="6858000"/>
          </a:xfrm>
          <a:prstGeom prst="rect">
            <a:avLst/>
          </a:prstGeom>
          <a:solidFill>
            <a:srgbClr val="544149"/>
          </a:solidFill>
          <a:ln>
            <a:noFill/>
          </a:ln>
        </p:spPr>
        <p:txBody>
          <a:bodyPr/>
          <a:lstStyle/>
          <a:p>
            <a:endParaRPr lang="en-US"/>
          </a:p>
        </p:txBody>
      </p:sp>
      <p:sp>
        <p:nvSpPr>
          <p:cNvPr id="3" name="White Card"/>
          <p:cNvSpPr/>
          <p:nvPr/>
        </p:nvSpPr>
        <p:spPr>
          <a:xfrm>
            <a:off x="477000" y="402186"/>
            <a:ext cx="11238000" cy="5904000"/>
          </a:xfrm>
          <a:prstGeom prst="rect">
            <a:avLst/>
          </a:prstGeom>
          <a:solidFill>
            <a:srgbClr val="FFFFFF"/>
          </a:solidFill>
          <a:ln>
            <a:noFill/>
          </a:ln>
        </p:spPr>
        <p:txBody>
          <a:bodyPr/>
          <a:lstStyle/>
          <a:p>
            <a:endParaRPr lang="en-US"/>
          </a:p>
        </p:txBody>
      </p:sp>
      <p:sp>
        <p:nvSpPr>
          <p:cNvPr id="5" name="Body Text"/>
          <p:cNvSpPr txBox="1"/>
          <p:nvPr/>
        </p:nvSpPr>
        <p:spPr>
          <a:xfrm>
            <a:off x="920819" y="1711237"/>
            <a:ext cx="10169976" cy="4500000"/>
          </a:xfrm>
          <a:prstGeom prst="rect">
            <a:avLst/>
          </a:prstGeom>
          <a:noFill/>
          <a:ln>
            <a:noFill/>
          </a:ln>
        </p:spPr>
        <p:txBody>
          <a:bodyPr wrap="square" rtlCol="0" anchor="t"/>
          <a:lstStyle/>
          <a:p>
            <a:pPr algn="l">
              <a:spcAft>
                <a:spcPts val="600"/>
              </a:spcAft>
            </a:pPr>
            <a:r>
              <a:rPr lang="en-US" u="sng" dirty="0"/>
              <a:t>Consider This</a:t>
            </a:r>
            <a:r>
              <a:rPr lang="en-US" dirty="0"/>
              <a:t>: 77% of AI interactions at work involve real company data. Before you type, ask: “Would I be comfortable if this appeared in a search result?”</a:t>
            </a:r>
          </a:p>
          <a:p>
            <a:pPr marL="457200" indent="-457200">
              <a:spcAft>
                <a:spcPts val="200"/>
              </a:spcAft>
              <a:buFont typeface="Wingdings" panose="05000000000000000000" pitchFamily="2" charset="2"/>
              <a:buChar char="q"/>
            </a:pPr>
            <a:r>
              <a:rPr lang="en-US" sz="1800" b="1" dirty="0">
                <a:solidFill>
                  <a:schemeClr val="accent1">
                    <a:lumMod val="75000"/>
                  </a:schemeClr>
                </a:solidFill>
              </a:rPr>
              <a:t>1. Training Data Risk </a:t>
            </a:r>
            <a:r>
              <a:rPr lang="en-US" sz="1800" dirty="0">
                <a:solidFill>
                  <a:srgbClr val="404040"/>
                </a:solidFill>
              </a:rPr>
              <a:t>— On free and consumer tiers, your prompts and uploads may be used to train the AI model. Never enter personally identifiable information (PII) — participant names, SSNs, case numbers, or addresses — into free-tier AI tools.</a:t>
            </a:r>
          </a:p>
          <a:p>
            <a:pPr marL="457200" indent="-457200">
              <a:spcBef>
                <a:spcPts val="600"/>
              </a:spcBef>
              <a:spcAft>
                <a:spcPts val="200"/>
              </a:spcAft>
              <a:buFont typeface="Wingdings" panose="05000000000000000000" pitchFamily="2" charset="2"/>
              <a:buChar char="q"/>
            </a:pPr>
            <a:r>
              <a:rPr lang="en-US" sz="1800" b="1" dirty="0">
                <a:solidFill>
                  <a:schemeClr val="accent1">
                    <a:lumMod val="75000"/>
                  </a:schemeClr>
                </a:solidFill>
              </a:rPr>
              <a:t>2. Cloud Storage and Data Retention </a:t>
            </a:r>
            <a:r>
              <a:rPr lang="en-US" sz="1800" dirty="0">
                <a:solidFill>
                  <a:srgbClr val="404040"/>
                </a:solidFill>
              </a:rPr>
              <a:t>— Even with “temporary chat” enabled, data is stored on the provider’s servers for up to 30 days. Shared conversations have been indexed by search engines, exposing donor details and personal stories.</a:t>
            </a:r>
          </a:p>
          <a:p>
            <a:pPr marL="457200" indent="-457200">
              <a:spcBef>
                <a:spcPts val="600"/>
              </a:spcBef>
              <a:spcAft>
                <a:spcPts val="200"/>
              </a:spcAft>
              <a:buFont typeface="Wingdings" panose="05000000000000000000" pitchFamily="2" charset="2"/>
              <a:buChar char="q"/>
            </a:pPr>
            <a:r>
              <a:rPr lang="en-US" sz="1800" b="1" dirty="0">
                <a:solidFill>
                  <a:schemeClr val="accent1">
                    <a:lumMod val="75000"/>
                  </a:schemeClr>
                </a:solidFill>
              </a:rPr>
              <a:t>3. Document Uploads and Knowledge Bases </a:t>
            </a:r>
            <a:r>
              <a:rPr lang="en-US" sz="1800" dirty="0">
                <a:solidFill>
                  <a:srgbClr val="404040"/>
                </a:solidFill>
              </a:rPr>
              <a:t>— When you upload organizational documents (curricula, intake forms, program data), they are processed and stored by the AI provider. Ask before uploading: “Does this contain PII, proprietary content, or information covered by a non-disclosure agreement?”</a:t>
            </a:r>
          </a:p>
          <a:p>
            <a:pPr algn="ctr">
              <a:spcBef>
                <a:spcPts val="600"/>
              </a:spcBef>
            </a:pPr>
            <a:r>
              <a:rPr lang="en-US" sz="2000" dirty="0">
                <a:solidFill>
                  <a:srgbClr val="C00000"/>
                </a:solidFill>
                <a:effectLst>
                  <a:outerShdw blurRad="38100" dist="38100" dir="2700000" algn="tl">
                    <a:srgbClr val="000000">
                      <a:alpha val="43137"/>
                    </a:srgbClr>
                  </a:outerShdw>
                </a:effectLst>
              </a:rPr>
              <a:t>Rule: Treat every AI prompt as if it could be made public. Use pseudonyms or anonymize data before entering it.</a:t>
            </a:r>
          </a:p>
          <a:p>
            <a:pPr algn="r">
              <a:spcBef>
                <a:spcPts val="400"/>
              </a:spcBef>
            </a:pPr>
            <a:r>
              <a:rPr lang="en-US" sz="1200" i="1">
                <a:solidFill>
                  <a:srgbClr val="808080"/>
                </a:solidFill>
              </a:rPr>
              <a:t>Sources: IntuitionLabs (2026), Levacloud (2025), CISA (2025), Cloud Security Alliance (2025)</a:t>
            </a:r>
          </a:p>
        </p:txBody>
      </p:sp>
      <p:sp>
        <p:nvSpPr>
          <p:cNvPr id="12" name="Title Bar"/>
          <p:cNvSpPr txBox="1"/>
          <p:nvPr/>
        </p:nvSpPr>
        <p:spPr>
          <a:xfrm>
            <a:off x="979008" y="574866"/>
            <a:ext cx="9774336" cy="1040922"/>
          </a:xfrm>
          <a:prstGeom prst="rect">
            <a:avLst/>
          </a:prstGeom>
          <a:solidFill>
            <a:schemeClr val="bg1">
              <a:lumMod val="95000"/>
            </a:schemeClr>
          </a:solidFill>
          <a:ln w="9525">
            <a:noFill/>
          </a:ln>
        </p:spPr>
        <p:txBody>
          <a:bodyPr wrap="square" rtlCol="0" anchor="ctr">
            <a:spAutoFit/>
          </a:bodyPr>
          <a:lstStyle/>
          <a:p>
            <a:r>
              <a:rPr lang="en-US" sz="3600" dirty="0"/>
              <a:t>Protecting Your Data: Privacy and Non-Disclosure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3144</TotalTime>
  <Words>738</Words>
  <Application>Microsoft Office PowerPoint</Application>
  <PresentationFormat>Widescreen</PresentationFormat>
  <Paragraphs>12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RPR</dc:creator>
  <cp:lastModifiedBy>RPR</cp:lastModifiedBy>
  <cp:revision>20</cp:revision>
  <dcterms:created xsi:type="dcterms:W3CDTF">2026-05-25T17:22:25Z</dcterms:created>
  <dcterms:modified xsi:type="dcterms:W3CDTF">2026-06-06T23:39:34Z</dcterms:modified>
</cp:coreProperties>
</file>