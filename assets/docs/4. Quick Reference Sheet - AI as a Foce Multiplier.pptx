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7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5739" autoAdjust="0"/>
  </p:normalViewPr>
  <p:slideViewPr>
    <p:cSldViewPr snapToGrid="0">
      <p:cViewPr varScale="1">
        <p:scale>
          <a:sx n="85" d="100"/>
          <a:sy n="85" d="100"/>
        </p:scale>
        <p:origin x="7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9965D-031B-4574-B021-B20DEAEC26FF}"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6FAFDE-888B-43D1-85AA-88ADEEA0044D}" type="slidenum">
              <a:rPr lang="en-US" smtClean="0"/>
              <a:t>‹#›</a:t>
            </a:fld>
            <a:endParaRPr lang="en-US"/>
          </a:p>
        </p:txBody>
      </p:sp>
    </p:spTree>
    <p:extLst>
      <p:ext uri="{BB962C8B-B14F-4D97-AF65-F5344CB8AC3E}">
        <p14:creationId xmlns:p14="http://schemas.microsoft.com/office/powerpoint/2010/main" val="230611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single page captures the key frameworks, terminology, and decision rules from the entire workshop. It is designed to be the one page you post near your workspace or keep in your folder as a daily reference.</a:t>
            </a:r>
          </a:p>
          <a:p>
            <a:r>
              <a:rPr lang="en-US"/>
              <a:t>The six sections map directly to the workshop structure: the pricing strategy from Part II.B, the terminology from Part II.A, the key rules that thread through every section, the five knowledge work domains from Part II.A, the six-step hands-on process from Part IV, and the task eligibility test that anchors the entire AI workflow framework from Part III.</a:t>
            </a:r>
          </a:p>
          <a:p>
            <a:r>
              <a:rPr lang="en-US"/>
              <a:t>A practical suggestion: photocopy this page and share it with colleagues who did not attend the workshop. It serves as both a personal reference and a conversation starter — each section naturally invites questions that let you share what you learned today. That is how the force multiplier effect extends beyond this room.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AD37-5FFD-843C-B67B-54857E90B9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357ED7-1D2D-8298-619F-0914A1152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921D86-DD04-233E-9EA7-F9FAC2896D70}"/>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8D2E0-496A-A100-E20D-7B1251C45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BE2E2-2FFF-09E9-5388-3110DCFFFCF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5247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9D11-17E1-F4F6-D755-EE4FF4713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EC7F8-0453-BC48-13F3-A9CDBE353F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4D9CA-C8E3-7E8E-E125-76A4B64334D3}"/>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2F25F01F-EBD2-7B5C-7CFE-E11BDA548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A18ED-884F-5565-696F-AA55D6EC263B}"/>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56442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C3C-B30F-6105-1E87-013C954D8A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7A44B-3FD6-6472-0C3A-9E6F4FB529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F2BB1-5D5D-2A68-0972-4F86D937C7A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E5BAAD70-DADB-40C6-E382-93ABD45A9D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EF37C-1273-2089-3AF6-29B2AD5CEC18}"/>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51349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6128-B893-D664-B603-56FDDB908F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5F5B82-D2A3-9A65-CD21-A2BDBD1579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DE8118-B704-695A-1591-0C7133E12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AA3AB-B1A3-AF1D-050D-BF277CF35B4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6436D383-AE78-FA3A-E8F8-B5A5CE64FC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C34B8-9B33-3586-4FA6-A3F37ECDB53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224855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CF899-45A4-F907-19D5-EA44096632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831A96-D43A-A257-0B1D-421FC0057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345B79-ACC6-5FD6-3E5D-579FA0C04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63D2C-B5E2-3929-3F79-02CE474286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0EFE1A-F97B-3920-D91A-93057F9B6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52BEC5-497D-7BBA-5810-2B098148DA9B}"/>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8" name="Footer Placeholder 7">
            <a:extLst>
              <a:ext uri="{FF2B5EF4-FFF2-40B4-BE49-F238E27FC236}">
                <a16:creationId xmlns:a16="http://schemas.microsoft.com/office/drawing/2014/main" id="{4760E25C-4F42-B138-93D9-933F7086AF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07DB06-2D2C-5CBA-58AE-969DEF55AC16}"/>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80460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FA14-6AC4-F1BE-674A-068235536A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ADF7E9-4322-B31D-8DA5-0F2B234CD984}"/>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4" name="Footer Placeholder 3">
            <a:extLst>
              <a:ext uri="{FF2B5EF4-FFF2-40B4-BE49-F238E27FC236}">
                <a16:creationId xmlns:a16="http://schemas.microsoft.com/office/drawing/2014/main" id="{A6237361-C8F1-8FD7-4DD1-C115F447E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90A54-CEC7-CC6C-A9BB-F2222C586630}"/>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184173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CDA3CC-6E6C-A885-9EFE-64F2DEC9B7D7}"/>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3" name="Footer Placeholder 2">
            <a:extLst>
              <a:ext uri="{FF2B5EF4-FFF2-40B4-BE49-F238E27FC236}">
                <a16:creationId xmlns:a16="http://schemas.microsoft.com/office/drawing/2014/main" id="{ADA60FE1-D3DF-238F-EB4F-6A76973E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929C39-ACE1-A108-01E0-EEF5B1FD038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21511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71F1-9FC7-76D9-FC77-093284400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E3D721-99BC-9F0D-09E1-F345AABE9D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475784-3411-DD8B-3340-0F04F19F5D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98061-9852-630A-2384-CB3FF61BE6C1}"/>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2B7A9065-9F6D-A6FB-6981-2C038368BC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5AC216-EC26-E6CF-7D46-0EC74DFFB6CD}"/>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923469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9875-A22C-430A-58A6-5A6F8FA67B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F21886-3C64-8C20-5D37-A861203DB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F49FF4-16DA-E626-FF64-D1F1526C2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E4B28-5BC5-D0A7-CD2D-EDFC6D87BC49}"/>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6" name="Footer Placeholder 5">
            <a:extLst>
              <a:ext uri="{FF2B5EF4-FFF2-40B4-BE49-F238E27FC236}">
                <a16:creationId xmlns:a16="http://schemas.microsoft.com/office/drawing/2014/main" id="{0914F9DA-EA80-51FC-1B6A-2D7F408752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C0B9-4E88-5979-EB96-6091351CE4C4}"/>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2149061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7D37-B112-1D57-51D2-8FD757C734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FD93FD-4920-420A-AC20-5B4B9496E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17C23-0899-B2F4-3615-128BCCC508DD}"/>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3380696-E365-DFC2-C1B3-669DC52DA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50BBF-E473-E4C8-ACEE-A35285CC3E89}"/>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4147486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DAA374-5FBF-C5E3-1FEF-96DF8945DF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44089C-567D-7CD5-8A2D-BD5D2C6FC2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470A41-EDDE-88EC-0461-674C7808FD3A}"/>
              </a:ext>
            </a:extLst>
          </p:cNvPr>
          <p:cNvSpPr>
            <a:spLocks noGrp="1"/>
          </p:cNvSpPr>
          <p:nvPr>
            <p:ph type="dt" sz="half" idx="10"/>
          </p:nvPr>
        </p:nvSpPr>
        <p:spPr/>
        <p:txBody>
          <a:body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4B65E7E2-BAC9-4D6B-ED24-6D23C63E8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9D57C-98F5-08E2-2D90-C6BA344FABFE}"/>
              </a:ext>
            </a:extLst>
          </p:cNvPr>
          <p:cNvSpPr>
            <a:spLocks noGrp="1"/>
          </p:cNvSpPr>
          <p:nvPr>
            <p:ph type="sldNum" sz="quarter" idx="12"/>
          </p:nvPr>
        </p:nvSpPr>
        <p:spPr/>
        <p:txBody>
          <a:bodyPr/>
          <a:lstStyle/>
          <a:p>
            <a:fld id="{D5CBCDCA-A83E-437A-9EDB-37BC55F99CA3}" type="slidenum">
              <a:rPr lang="en-US" smtClean="0"/>
              <a:t>‹#›</a:t>
            </a:fld>
            <a:endParaRPr lang="en-US"/>
          </a:p>
        </p:txBody>
      </p:sp>
    </p:spTree>
    <p:extLst>
      <p:ext uri="{BB962C8B-B14F-4D97-AF65-F5344CB8AC3E}">
        <p14:creationId xmlns:p14="http://schemas.microsoft.com/office/powerpoint/2010/main" val="387604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3BF697-245B-74B9-930B-5261FCEFCF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C9B03D-8D87-4332-FB64-2E6A6AFC6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96E34-8AE9-0D6B-0946-5C0D7D6DE3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CC982-0BCC-4ADE-BC29-A605B02CD492}" type="datetimeFigureOut">
              <a:rPr lang="en-US" smtClean="0"/>
              <a:t>6/6/2026</a:t>
            </a:fld>
            <a:endParaRPr lang="en-US"/>
          </a:p>
        </p:txBody>
      </p:sp>
      <p:sp>
        <p:nvSpPr>
          <p:cNvPr id="5" name="Footer Placeholder 4">
            <a:extLst>
              <a:ext uri="{FF2B5EF4-FFF2-40B4-BE49-F238E27FC236}">
                <a16:creationId xmlns:a16="http://schemas.microsoft.com/office/drawing/2014/main" id="{027C5DB4-2386-017A-4710-0F736BAFE1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DF0061-89A9-8734-9ABC-56DC8588B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BCDCA-A83E-437A-9EDB-37BC55F99CA3}" type="slidenum">
              <a:rPr lang="en-US" smtClean="0"/>
              <a:t>‹#›</a:t>
            </a:fld>
            <a:endParaRPr lang="en-US"/>
          </a:p>
        </p:txBody>
      </p:sp>
    </p:spTree>
    <p:extLst>
      <p:ext uri="{BB962C8B-B14F-4D97-AF65-F5344CB8AC3E}">
        <p14:creationId xmlns:p14="http://schemas.microsoft.com/office/powerpoint/2010/main" val="336216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Title 1"/>
          <p:cNvSpPr>
            <a:spLocks noGrp="1"/>
          </p:cNvSpPr>
          <p:nvPr>
            <p:ph type="title"/>
          </p:nvPr>
        </p:nvSpPr>
        <p:spPr>
          <a:xfrm>
            <a:off x="0" y="0"/>
            <a:ext cx="1" cy="1"/>
          </a:xfrm>
          <a:prstGeom prst="rect">
            <a:avLst/>
          </a:prstGeom>
          <a:noFill/>
          <a:ln>
            <a:noFill/>
          </a:ln>
        </p:spPr>
        <p:txBody>
          <a:bodyPr>
            <a:normAutofit fontScale="90000"/>
          </a:bodyPr>
          <a:lstStyle/>
          <a:p>
            <a:endParaRPr lang="en-US"/>
          </a:p>
        </p:txBody>
      </p:sp>
      <p:sp>
        <p:nvSpPr>
          <p:cNvPr id="2" name="Background"/>
          <p:cNvSpPr/>
          <p:nvPr/>
        </p:nvSpPr>
        <p:spPr>
          <a:xfrm>
            <a:off x="0" y="0"/>
            <a:ext cx="12192000" cy="6858000"/>
          </a:xfrm>
          <a:prstGeom prst="rect">
            <a:avLst/>
          </a:prstGeom>
          <a:solidFill>
            <a:srgbClr val="FFFFFF"/>
          </a:solidFill>
          <a:ln>
            <a:noFill/>
          </a:ln>
        </p:spPr>
        <p:txBody>
          <a:bodyPr/>
          <a:lstStyle/>
          <a:p>
            <a:endParaRPr lang="en-US"/>
          </a:p>
        </p:txBody>
      </p:sp>
      <p:sp>
        <p:nvSpPr>
          <p:cNvPr id="10" name="Title"/>
          <p:cNvSpPr txBox="1"/>
          <p:nvPr/>
        </p:nvSpPr>
        <p:spPr>
          <a:xfrm>
            <a:off x="457200" y="112298"/>
            <a:ext cx="11277600" cy="457200"/>
          </a:xfrm>
          <a:prstGeom prst="rect">
            <a:avLst/>
          </a:prstGeom>
          <a:solidFill>
            <a:schemeClr val="tx1">
              <a:lumMod val="50000"/>
              <a:lumOff val="50000"/>
            </a:schemeClr>
          </a:solidFill>
          <a:ln>
            <a:solidFill>
              <a:schemeClr val="tx1">
                <a:lumMod val="50000"/>
                <a:lumOff val="50000"/>
              </a:schemeClr>
            </a:solidFill>
          </a:ln>
        </p:spPr>
        <p:txBody>
          <a:bodyPr wrap="square" rtlCol="0" anchor="ctr"/>
          <a:lstStyle/>
          <a:p>
            <a:pPr algn="ctr"/>
            <a:r>
              <a:rPr lang="en-US" sz="1800" b="1" dirty="0">
                <a:solidFill>
                  <a:srgbClr val="FFFFFF"/>
                </a:solidFill>
              </a:rPr>
              <a:t>QUICK REFERENCE HANDOUT  |  AI as a Force Multiplier in Responsible Fatherhood</a:t>
            </a:r>
          </a:p>
        </p:txBody>
      </p:sp>
      <p:sp>
        <p:nvSpPr>
          <p:cNvPr id="20" name="LeftColumn"/>
          <p:cNvSpPr txBox="1"/>
          <p:nvPr/>
        </p:nvSpPr>
        <p:spPr>
          <a:xfrm>
            <a:off x="528406" y="788727"/>
            <a:ext cx="5241559" cy="5829300"/>
          </a:xfrm>
          <a:prstGeom prst="rect">
            <a:avLst/>
          </a:prstGeom>
          <a:noFill/>
        </p:spPr>
        <p:txBody>
          <a:bodyPr wrap="square" rtlCol="0" anchor="t"/>
          <a:lstStyle/>
          <a:p>
            <a:pPr>
              <a:spcAft>
                <a:spcPts val="200"/>
              </a:spcAft>
            </a:pPr>
            <a:r>
              <a:rPr lang="en-US" sz="1400" dirty="0">
                <a:solidFill>
                  <a:srgbClr val="C00000"/>
                </a:solidFill>
                <a:effectLst>
                  <a:outerShdw blurRad="38100" dist="38100" dir="2700000" algn="tl">
                    <a:srgbClr val="000000">
                      <a:alpha val="43137"/>
                    </a:srgbClr>
                  </a:outerShdw>
                </a:effectLst>
              </a:rPr>
              <a:t>5 KNOWLEDGE WORK DOMAINS</a:t>
            </a:r>
          </a:p>
          <a:p>
            <a:pPr marL="228600" indent="-228600">
              <a:spcAft>
                <a:spcPts val="100"/>
              </a:spcAft>
              <a:buChar char="●"/>
            </a:pPr>
            <a:r>
              <a:rPr lang="en-US" sz="1200" b="1" dirty="0">
                <a:solidFill>
                  <a:srgbClr val="333333"/>
                </a:solidFill>
              </a:rPr>
              <a:t>Knowledge Management</a:t>
            </a:r>
            <a:r>
              <a:rPr lang="en-US" sz="1200" dirty="0">
                <a:solidFill>
                  <a:srgbClr val="444444"/>
                </a:solidFill>
              </a:rPr>
              <a:t> — Organize files, query documents, surface case trends</a:t>
            </a:r>
          </a:p>
          <a:p>
            <a:pPr marL="228600" indent="-228600">
              <a:spcAft>
                <a:spcPts val="100"/>
              </a:spcAft>
              <a:buChar char="●"/>
            </a:pPr>
            <a:r>
              <a:rPr lang="en-US" sz="1200" b="1" dirty="0">
                <a:solidFill>
                  <a:srgbClr val="333333"/>
                </a:solidFill>
              </a:rPr>
              <a:t>Administrative Support</a:t>
            </a:r>
            <a:r>
              <a:rPr lang="en-US" sz="1200" dirty="0">
                <a:solidFill>
                  <a:srgbClr val="444444"/>
                </a:solidFill>
              </a:rPr>
              <a:t> — Email drafting, calendar management, meeting notes</a:t>
            </a:r>
          </a:p>
          <a:p>
            <a:pPr marL="228600" indent="-228600">
              <a:spcAft>
                <a:spcPts val="100"/>
              </a:spcAft>
              <a:buChar char="●"/>
            </a:pPr>
            <a:r>
              <a:rPr lang="en-US" sz="1200" b="1" dirty="0">
                <a:solidFill>
                  <a:srgbClr val="333333"/>
                </a:solidFill>
              </a:rPr>
              <a:t>Writing &amp; Outreach</a:t>
            </a:r>
            <a:r>
              <a:rPr lang="en-US" sz="1200" dirty="0">
                <a:solidFill>
                  <a:srgbClr val="444444"/>
                </a:solidFill>
              </a:rPr>
              <a:t> — Recruitment campaigns, LOIs, proposals, event invites</a:t>
            </a:r>
          </a:p>
          <a:p>
            <a:pPr marL="228600" indent="-228600">
              <a:spcAft>
                <a:spcPts val="100"/>
              </a:spcAft>
              <a:buChar char="●"/>
            </a:pPr>
            <a:r>
              <a:rPr lang="en-US" sz="1200" b="1" dirty="0">
                <a:solidFill>
                  <a:srgbClr val="333333"/>
                </a:solidFill>
              </a:rPr>
              <a:t>Research</a:t>
            </a:r>
            <a:r>
              <a:rPr lang="en-US" sz="1200" dirty="0">
                <a:solidFill>
                  <a:srgbClr val="444444"/>
                </a:solidFill>
              </a:rPr>
              <a:t> — RFP summarization, evidence synthesis, program literature</a:t>
            </a:r>
          </a:p>
          <a:p>
            <a:pPr marL="228600" indent="-228600">
              <a:spcAft>
                <a:spcPts val="400"/>
              </a:spcAft>
              <a:buChar char="●"/>
            </a:pPr>
            <a:r>
              <a:rPr lang="en-US" sz="1200" b="1" dirty="0">
                <a:solidFill>
                  <a:srgbClr val="333333"/>
                </a:solidFill>
              </a:rPr>
              <a:t>Analysis</a:t>
            </a:r>
            <a:r>
              <a:rPr lang="en-US" sz="1200" dirty="0">
                <a:solidFill>
                  <a:srgbClr val="444444"/>
                </a:solidFill>
              </a:rPr>
              <a:t> — Data cleaning, outcome trends, survey/feedback analysis</a:t>
            </a:r>
          </a:p>
          <a:p>
            <a:pPr>
              <a:spcBef>
                <a:spcPts val="600"/>
              </a:spcBef>
              <a:spcAft>
                <a:spcPts val="200"/>
              </a:spcAft>
            </a:pPr>
            <a:r>
              <a:rPr lang="en-US" sz="1400" dirty="0">
                <a:solidFill>
                  <a:srgbClr val="C00000"/>
                </a:solidFill>
                <a:effectLst>
                  <a:outerShdw blurRad="38100" dist="38100" dir="2700000" algn="tl">
                    <a:srgbClr val="000000">
                      <a:alpha val="43137"/>
                    </a:srgbClr>
                  </a:outerShdw>
                </a:effectLst>
              </a:rPr>
              <a:t>6-STEP HANDS-ON PROCESS</a:t>
            </a:r>
          </a:p>
          <a:p>
            <a:pPr marL="228600" indent="-228600">
              <a:spcAft>
                <a:spcPts val="100"/>
              </a:spcAft>
              <a:buAutoNum type="arabicPeriod"/>
            </a:pPr>
            <a:r>
              <a:rPr lang="en-US" sz="1200" dirty="0">
                <a:solidFill>
                  <a:srgbClr val="333333"/>
                </a:solidFill>
              </a:rPr>
              <a:t>Choose your task (from your own work or the five domains)</a:t>
            </a:r>
          </a:p>
          <a:p>
            <a:pPr marL="228600" indent="-228600">
              <a:spcAft>
                <a:spcPts val="100"/>
              </a:spcAft>
              <a:buAutoNum type="arabicPeriod"/>
            </a:pPr>
            <a:r>
              <a:rPr lang="en-US" sz="1200" dirty="0">
                <a:solidFill>
                  <a:srgbClr val="333333"/>
                </a:solidFill>
              </a:rPr>
              <a:t>Confirm it is AI-eligible (language-based, information-intensive)</a:t>
            </a:r>
          </a:p>
          <a:p>
            <a:pPr marL="228600" indent="-228600">
              <a:spcAft>
                <a:spcPts val="100"/>
              </a:spcAft>
              <a:buAutoNum type="arabicPeriod"/>
            </a:pPr>
            <a:r>
              <a:rPr lang="en-US" sz="1200" dirty="0">
                <a:solidFill>
                  <a:srgbClr val="333333"/>
                </a:solidFill>
              </a:rPr>
              <a:t>Open your AI tool (ChatGPT, Gemini, Copilot, or Claude)</a:t>
            </a:r>
          </a:p>
          <a:p>
            <a:pPr marL="228600" indent="-228600">
              <a:spcAft>
                <a:spcPts val="100"/>
              </a:spcAft>
              <a:buAutoNum type="arabicPeriod"/>
            </a:pPr>
            <a:r>
              <a:rPr lang="en-US" sz="1200" dirty="0">
                <a:solidFill>
                  <a:srgbClr val="333333"/>
                </a:solidFill>
              </a:rPr>
              <a:t>Write a specific prompt (include context, audience, tone, desired output)</a:t>
            </a:r>
          </a:p>
          <a:p>
            <a:pPr marL="228600" indent="-228600">
              <a:spcAft>
                <a:spcPts val="100"/>
              </a:spcAft>
              <a:buAutoNum type="arabicPeriod"/>
            </a:pPr>
            <a:r>
              <a:rPr lang="en-US" sz="1200" dirty="0">
                <a:solidFill>
                  <a:srgbClr val="333333"/>
                </a:solidFill>
              </a:rPr>
              <a:t>Evaluate and iterate (refine your prompt based on the output)</a:t>
            </a:r>
          </a:p>
          <a:p>
            <a:pPr marL="228600" indent="-228600">
              <a:spcAft>
                <a:spcPts val="400"/>
              </a:spcAft>
              <a:buAutoNum type="arabicPeriod"/>
            </a:pPr>
            <a:r>
              <a:rPr lang="en-US" sz="1200" dirty="0">
                <a:solidFill>
                  <a:srgbClr val="333333"/>
                </a:solidFill>
              </a:rPr>
              <a:t>Document your result (save your best prompt and output)</a:t>
            </a:r>
          </a:p>
          <a:p>
            <a:pPr>
              <a:spcBef>
                <a:spcPts val="600"/>
              </a:spcBef>
              <a:spcAft>
                <a:spcPts val="200"/>
              </a:spcAft>
            </a:pPr>
            <a:r>
              <a:rPr lang="en-US" sz="1400" dirty="0">
                <a:solidFill>
                  <a:srgbClr val="FF0000"/>
                </a:solidFill>
                <a:effectLst>
                  <a:outerShdw blurRad="38100" dist="38100" dir="2700000" algn="tl">
                    <a:srgbClr val="000000">
                      <a:alpha val="43137"/>
                    </a:srgbClr>
                  </a:outerShdw>
                </a:effectLst>
              </a:rPr>
              <a:t>TASK ELIGIBILITY TEST</a:t>
            </a:r>
          </a:p>
          <a:p>
            <a:pPr>
              <a:spcAft>
                <a:spcPts val="100"/>
              </a:spcAft>
            </a:pPr>
            <a:r>
              <a:rPr lang="en-US" sz="1200" dirty="0">
                <a:solidFill>
                  <a:srgbClr val="333333"/>
                </a:solidFill>
              </a:rPr>
              <a:t>Ask: Is this task language-based and information-intensive?</a:t>
            </a:r>
          </a:p>
          <a:p>
            <a:pPr>
              <a:spcAft>
                <a:spcPts val="100"/>
              </a:spcAft>
            </a:pPr>
            <a:r>
              <a:rPr lang="en-US" sz="1200" b="1" dirty="0">
                <a:solidFill>
                  <a:srgbClr val="333333"/>
                </a:solidFill>
              </a:rPr>
              <a:t>YES →</a:t>
            </a:r>
            <a:r>
              <a:rPr lang="en-US" sz="1200" dirty="0">
                <a:solidFill>
                  <a:srgbClr val="333333"/>
                </a:solidFill>
              </a:rPr>
              <a:t> Emails, reports, case notes, proposals, data summaries</a:t>
            </a:r>
          </a:p>
          <a:p>
            <a:pPr>
              <a:spcAft>
                <a:spcPts val="200"/>
              </a:spcAft>
            </a:pPr>
            <a:r>
              <a:rPr lang="en-US" sz="1200" b="1" dirty="0">
                <a:solidFill>
                  <a:srgbClr val="333333"/>
                </a:solidFill>
              </a:rPr>
              <a:t>NO →</a:t>
            </a:r>
            <a:r>
              <a:rPr lang="en-US" sz="1200" dirty="0">
                <a:solidFill>
                  <a:srgbClr val="333333"/>
                </a:solidFill>
              </a:rPr>
              <a:t> Physical setup, crisis counseling, in-person facilitation</a:t>
            </a:r>
            <a:br>
              <a:rPr lang="en-US" sz="1200" dirty="0">
                <a:solidFill>
                  <a:srgbClr val="333333"/>
                </a:solidFill>
              </a:rPr>
            </a:br>
            <a:br>
              <a:rPr lang="en-US" sz="1200" dirty="0">
                <a:solidFill>
                  <a:srgbClr val="333333"/>
                </a:solidFill>
              </a:rPr>
            </a:br>
            <a:r>
              <a:rPr lang="en-US" sz="1300" dirty="0">
                <a:solidFill>
                  <a:srgbClr val="C00000"/>
                </a:solidFill>
                <a:effectLst>
                  <a:outerShdw blurRad="38100" dist="38100" dir="2700000" algn="tl">
                    <a:srgbClr val="000000">
                      <a:alpha val="43137"/>
                    </a:srgbClr>
                  </a:outerShdw>
                </a:effectLst>
              </a:rPr>
              <a:t>START FREE PRICING STRATEGY</a:t>
            </a:r>
          </a:p>
          <a:p>
            <a:pPr marL="228600" indent="-228600">
              <a:spcAft>
                <a:spcPts val="100"/>
              </a:spcAft>
              <a:buChar char="●"/>
            </a:pPr>
            <a:r>
              <a:rPr lang="en-US" sz="1200" b="1" dirty="0">
                <a:solidFill>
                  <a:srgbClr val="333333"/>
                </a:solidFill>
              </a:rPr>
              <a:t>Free:</a:t>
            </a:r>
            <a:r>
              <a:rPr lang="en-US" sz="1200" dirty="0">
                <a:solidFill>
                  <a:srgbClr val="444444"/>
                </a:solidFill>
              </a:rPr>
              <a:t> Gemini Free, Copilot Free, ChatGPT Free ($0)</a:t>
            </a:r>
          </a:p>
          <a:p>
            <a:pPr marL="228600" indent="-228600">
              <a:spcAft>
                <a:spcPts val="100"/>
              </a:spcAft>
              <a:buChar char="●"/>
            </a:pPr>
            <a:r>
              <a:rPr lang="en-US" sz="1200" b="1" dirty="0">
                <a:solidFill>
                  <a:srgbClr val="333333"/>
                </a:solidFill>
              </a:rPr>
              <a:t>Consumer:</a:t>
            </a:r>
            <a:r>
              <a:rPr lang="en-US" sz="1200" dirty="0">
                <a:solidFill>
                  <a:srgbClr val="444444"/>
                </a:solidFill>
              </a:rPr>
              <a:t> Google AI Pro ~$20/</a:t>
            </a:r>
            <a:r>
              <a:rPr lang="en-US" sz="1200" dirty="0" err="1">
                <a:solidFill>
                  <a:srgbClr val="444444"/>
                </a:solidFill>
              </a:rPr>
              <a:t>mo</a:t>
            </a:r>
            <a:r>
              <a:rPr lang="en-US" sz="1200" dirty="0">
                <a:solidFill>
                  <a:srgbClr val="444444"/>
                </a:solidFill>
              </a:rPr>
              <a:t> | M365 ~$10–$13/</a:t>
            </a:r>
            <a:r>
              <a:rPr lang="en-US" sz="1200" dirty="0" err="1">
                <a:solidFill>
                  <a:srgbClr val="444444"/>
                </a:solidFill>
              </a:rPr>
              <a:t>mo</a:t>
            </a:r>
            <a:endParaRPr lang="en-US" sz="1200" dirty="0">
              <a:solidFill>
                <a:srgbClr val="444444"/>
              </a:solidFill>
            </a:endParaRPr>
          </a:p>
          <a:p>
            <a:pPr marL="228600" indent="-228600">
              <a:spcAft>
                <a:spcPts val="100"/>
              </a:spcAft>
              <a:buChar char="●"/>
            </a:pPr>
            <a:r>
              <a:rPr lang="en-US" sz="1200" b="1" dirty="0">
                <a:solidFill>
                  <a:srgbClr val="333333"/>
                </a:solidFill>
              </a:rPr>
              <a:t>Premium:</a:t>
            </a:r>
            <a:r>
              <a:rPr lang="en-US" sz="1200" dirty="0">
                <a:solidFill>
                  <a:srgbClr val="444444"/>
                </a:solidFill>
              </a:rPr>
              <a:t> ~$14–$22/user/</a:t>
            </a:r>
            <a:r>
              <a:rPr lang="en-US" sz="1200" dirty="0" err="1">
                <a:solidFill>
                  <a:srgbClr val="444444"/>
                </a:solidFill>
              </a:rPr>
              <a:t>mo</a:t>
            </a:r>
            <a:endParaRPr lang="en-US" sz="1200" dirty="0">
              <a:solidFill>
                <a:srgbClr val="444444"/>
              </a:solidFill>
            </a:endParaRPr>
          </a:p>
          <a:p>
            <a:pPr marL="228600" indent="-228600">
              <a:spcAft>
                <a:spcPts val="100"/>
              </a:spcAft>
              <a:buChar char="●"/>
            </a:pPr>
            <a:r>
              <a:rPr lang="en-US" sz="1200" b="1" dirty="0">
                <a:solidFill>
                  <a:srgbClr val="333333"/>
                </a:solidFill>
              </a:rPr>
              <a:t>Rule:</a:t>
            </a:r>
            <a:r>
              <a:rPr lang="en-US" sz="1200" dirty="0">
                <a:solidFill>
                  <a:srgbClr val="C00000"/>
                </a:solidFill>
              </a:rPr>
              <a:t> Start Free → Learn → Upgrade Only on Demonstrated Value</a:t>
            </a:r>
          </a:p>
          <a:p>
            <a:pPr>
              <a:spcAft>
                <a:spcPts val="100"/>
              </a:spcAft>
            </a:pPr>
            <a:r>
              <a:rPr lang="en-US" sz="1200" i="1" dirty="0">
                <a:solidFill>
                  <a:srgbClr val="444444"/>
                </a:solidFill>
              </a:rPr>
              <a:t>Check what you already have — Copilot and Gemini are built into M365 and Google Workspace.</a:t>
            </a:r>
          </a:p>
          <a:p>
            <a:endParaRPr lang="en-US" sz="1200" dirty="0">
              <a:solidFill>
                <a:srgbClr val="333333"/>
              </a:solidFill>
            </a:endParaRPr>
          </a:p>
        </p:txBody>
      </p:sp>
      <p:sp>
        <p:nvSpPr>
          <p:cNvPr id="30" name="RightColumn"/>
          <p:cNvSpPr txBox="1"/>
          <p:nvPr/>
        </p:nvSpPr>
        <p:spPr>
          <a:xfrm>
            <a:off x="6531964" y="845877"/>
            <a:ext cx="4974235" cy="5248432"/>
          </a:xfrm>
          <a:prstGeom prst="rect">
            <a:avLst/>
          </a:prstGeom>
          <a:noFill/>
        </p:spPr>
        <p:txBody>
          <a:bodyPr wrap="square" rtlCol="0" anchor="t"/>
          <a:lstStyle/>
          <a:p>
            <a:pPr>
              <a:spcBef>
                <a:spcPts val="600"/>
              </a:spcBef>
              <a:spcAft>
                <a:spcPts val="200"/>
              </a:spcAft>
            </a:pPr>
            <a:r>
              <a:rPr lang="en-US" sz="1400" dirty="0">
                <a:solidFill>
                  <a:srgbClr val="C00000"/>
                </a:solidFill>
                <a:effectLst>
                  <a:outerShdw blurRad="38100" dist="38100" dir="2700000" algn="tl">
                    <a:srgbClr val="000000">
                      <a:alpha val="43137"/>
                    </a:srgbClr>
                  </a:outerShdw>
                </a:effectLst>
              </a:rPr>
              <a:t>AI TERMINOLOGY QUICK REFERENCE</a:t>
            </a:r>
          </a:p>
          <a:p>
            <a:pPr marL="228600" indent="-228600">
              <a:spcAft>
                <a:spcPts val="100"/>
              </a:spcAft>
              <a:buChar char="●"/>
            </a:pPr>
            <a:r>
              <a:rPr lang="en-US" sz="1200" b="1" dirty="0">
                <a:solidFill>
                  <a:srgbClr val="333333"/>
                </a:solidFill>
              </a:rPr>
              <a:t>AI:</a:t>
            </a:r>
            <a:r>
              <a:rPr lang="en-US" sz="1200" dirty="0">
                <a:solidFill>
                  <a:srgbClr val="444444"/>
                </a:solidFill>
              </a:rPr>
              <a:t> Broad field (since 1950) — machines performing tasks that typically require human intelligence</a:t>
            </a:r>
          </a:p>
          <a:p>
            <a:pPr marL="228600" indent="-228600">
              <a:spcAft>
                <a:spcPts val="100"/>
              </a:spcAft>
              <a:buChar char="●"/>
            </a:pPr>
            <a:r>
              <a:rPr lang="en-US" sz="1200" b="1" dirty="0">
                <a:solidFill>
                  <a:srgbClr val="333333"/>
                </a:solidFill>
              </a:rPr>
              <a:t>Machine Learning:</a:t>
            </a:r>
            <a:r>
              <a:rPr lang="en-US" sz="1200" dirty="0">
                <a:solidFill>
                  <a:srgbClr val="444444"/>
                </a:solidFill>
              </a:rPr>
              <a:t> Systems that learn from data patterns rather than explicit programming</a:t>
            </a:r>
          </a:p>
          <a:p>
            <a:pPr marL="228600" indent="-228600">
              <a:spcAft>
                <a:spcPts val="100"/>
              </a:spcAft>
              <a:buChar char="●"/>
            </a:pPr>
            <a:r>
              <a:rPr lang="en-US" sz="1200" b="1" dirty="0">
                <a:solidFill>
                  <a:srgbClr val="333333"/>
                </a:solidFill>
              </a:rPr>
              <a:t>Generative AI:</a:t>
            </a:r>
            <a:r>
              <a:rPr lang="en-US" sz="1200" dirty="0">
                <a:solidFill>
                  <a:srgbClr val="444444"/>
                </a:solidFill>
              </a:rPr>
              <a:t> AI that creates new text, images, or content (ChatGPT, Gemini, etc.)</a:t>
            </a:r>
          </a:p>
          <a:p>
            <a:pPr marL="228600" indent="-228600">
              <a:spcAft>
                <a:spcPts val="100"/>
              </a:spcAft>
              <a:buChar char="●"/>
            </a:pPr>
            <a:r>
              <a:rPr lang="en-US" sz="1200" b="1" dirty="0">
                <a:solidFill>
                  <a:srgbClr val="333333"/>
                </a:solidFill>
              </a:rPr>
              <a:t>LLM (Large Language Model):</a:t>
            </a:r>
            <a:r>
              <a:rPr lang="en-US" sz="1200" dirty="0">
                <a:solidFill>
                  <a:srgbClr val="444444"/>
                </a:solidFill>
              </a:rPr>
              <a:t> The engine behind tools like ChatGPT — trained on vast text data</a:t>
            </a:r>
          </a:p>
          <a:p>
            <a:pPr marL="228600" indent="-228600">
              <a:spcAft>
                <a:spcPts val="100"/>
              </a:spcAft>
              <a:buChar char="●"/>
            </a:pPr>
            <a:r>
              <a:rPr lang="en-US" sz="1200" b="1" dirty="0">
                <a:solidFill>
                  <a:srgbClr val="333333"/>
                </a:solidFill>
              </a:rPr>
              <a:t>Prompt:</a:t>
            </a:r>
            <a:r>
              <a:rPr lang="en-US" sz="1200" dirty="0">
                <a:solidFill>
                  <a:srgbClr val="444444"/>
                </a:solidFill>
              </a:rPr>
              <a:t> Your instruction or question to the AI tool</a:t>
            </a:r>
          </a:p>
          <a:p>
            <a:pPr marL="228600" indent="-228600">
              <a:spcAft>
                <a:spcPts val="100"/>
              </a:spcAft>
              <a:buChar char="●"/>
            </a:pPr>
            <a:r>
              <a:rPr lang="en-US" sz="1200" b="1" dirty="0">
                <a:solidFill>
                  <a:srgbClr val="333333"/>
                </a:solidFill>
              </a:rPr>
              <a:t>Hallucination:</a:t>
            </a:r>
            <a:r>
              <a:rPr lang="en-US" sz="1200" dirty="0">
                <a:solidFill>
                  <a:srgbClr val="444444"/>
                </a:solidFill>
              </a:rPr>
              <a:t> When AI generates confident-sounding but factually incorrect information</a:t>
            </a:r>
          </a:p>
          <a:p>
            <a:pPr marL="228600" indent="-228600">
              <a:spcAft>
                <a:spcPts val="400"/>
              </a:spcAft>
              <a:buChar char="●"/>
            </a:pPr>
            <a:r>
              <a:rPr lang="en-US" sz="1200" b="1" dirty="0">
                <a:solidFill>
                  <a:srgbClr val="333333"/>
                </a:solidFill>
              </a:rPr>
              <a:t>Transformer:</a:t>
            </a:r>
            <a:r>
              <a:rPr lang="en-US" sz="1200" dirty="0">
                <a:solidFill>
                  <a:srgbClr val="444444"/>
                </a:solidFill>
              </a:rPr>
              <a:t> The 2017 architecture breakthrough that made modern Generative AI possible</a:t>
            </a:r>
          </a:p>
          <a:p>
            <a:pPr>
              <a:spcBef>
                <a:spcPts val="600"/>
              </a:spcBef>
              <a:spcAft>
                <a:spcPts val="200"/>
              </a:spcAft>
            </a:pPr>
            <a:r>
              <a:rPr lang="en-US" sz="1400" dirty="0">
                <a:solidFill>
                  <a:srgbClr val="C00000"/>
                </a:solidFill>
                <a:effectLst>
                  <a:outerShdw blurRad="38100" dist="38100" dir="2700000" algn="tl">
                    <a:srgbClr val="000000">
                      <a:alpha val="43137"/>
                    </a:srgbClr>
                  </a:outerShdw>
                </a:effectLst>
              </a:rPr>
              <a:t>KEY RULES TO REMEMBER</a:t>
            </a:r>
          </a:p>
          <a:p>
            <a:pPr marL="228600" indent="-228600">
              <a:spcAft>
                <a:spcPts val="100"/>
              </a:spcAft>
              <a:buChar char="●"/>
            </a:pPr>
            <a:r>
              <a:rPr lang="en-US" sz="1200" dirty="0">
                <a:solidFill>
                  <a:srgbClr val="333333"/>
                </a:solidFill>
              </a:rPr>
              <a:t>AI is a 75-year-old field — not new, not magic</a:t>
            </a:r>
          </a:p>
          <a:p>
            <a:pPr marL="228600" indent="-228600">
              <a:spcAft>
                <a:spcPts val="100"/>
              </a:spcAft>
              <a:buChar char="●"/>
            </a:pPr>
            <a:r>
              <a:rPr lang="en-US" sz="1200" dirty="0">
                <a:solidFill>
                  <a:srgbClr val="333333"/>
                </a:solidFill>
              </a:rPr>
              <a:t>AI does not think or reason — it identifies patterns in data</a:t>
            </a:r>
          </a:p>
          <a:p>
            <a:pPr marL="228600" indent="-228600">
              <a:spcAft>
                <a:spcPts val="100"/>
              </a:spcAft>
              <a:buChar char="●"/>
            </a:pPr>
            <a:r>
              <a:rPr lang="en-US" sz="1200" b="1" dirty="0">
                <a:solidFill>
                  <a:srgbClr val="333333"/>
                </a:solidFill>
              </a:rPr>
              <a:t>68% of AI citations come from just 15 domains</a:t>
            </a:r>
            <a:r>
              <a:rPr lang="en-US" sz="1200" dirty="0">
                <a:solidFill>
                  <a:srgbClr val="333333"/>
                </a:solidFill>
              </a:rPr>
              <a:t> — always verify</a:t>
            </a:r>
          </a:p>
          <a:p>
            <a:pPr marL="228600" indent="-228600">
              <a:spcAft>
                <a:spcPts val="100"/>
              </a:spcAft>
              <a:buChar char="●"/>
            </a:pPr>
            <a:r>
              <a:rPr lang="en-US" sz="1200" dirty="0">
                <a:solidFill>
                  <a:srgbClr val="333333"/>
                </a:solidFill>
              </a:rPr>
              <a:t>Patience and iteration are the most important AI skills</a:t>
            </a:r>
          </a:p>
          <a:p>
            <a:pPr marL="228600" indent="-228600">
              <a:spcAft>
                <a:spcPts val="100"/>
              </a:spcAft>
              <a:buChar char="●"/>
            </a:pPr>
            <a:r>
              <a:rPr lang="en-US" sz="1200" dirty="0">
                <a:solidFill>
                  <a:srgbClr val="333333"/>
                </a:solidFill>
              </a:rPr>
              <a:t>Choose tools that fit your existing ecosystem (Google or Microsoft)</a:t>
            </a:r>
          </a:p>
          <a:p>
            <a:pPr marL="228600" indent="-228600">
              <a:buChar char="●"/>
            </a:pPr>
            <a:r>
              <a:rPr lang="en-US" sz="1200" dirty="0">
                <a:solidFill>
                  <a:srgbClr val="333333"/>
                </a:solidFill>
              </a:rPr>
              <a:t>AI is a force multiplier for knowledge work — not a replacement for human judgment</a:t>
            </a:r>
          </a:p>
          <a:p>
            <a:pPr marL="228600" indent="-228600">
              <a:spcAft>
                <a:spcPts val="100"/>
              </a:spcAft>
              <a:buChar char="●"/>
            </a:pPr>
            <a:r>
              <a:rPr lang="en-US" sz="1200" b="1" dirty="0">
                <a:solidFill>
                  <a:srgbClr val="C00000"/>
                </a:solidFill>
              </a:rPr>
              <a:t>Never enter PII into free-tier AI tools</a:t>
            </a:r>
            <a:r>
              <a:rPr lang="en-US" sz="1200" dirty="0">
                <a:solidFill>
                  <a:srgbClr val="333333"/>
                </a:solidFill>
              </a:rPr>
              <a:t> — anonymize first</a:t>
            </a:r>
          </a:p>
          <a:p>
            <a:pPr marL="228600" indent="-228600">
              <a:spcAft>
                <a:spcPts val="100"/>
              </a:spcAft>
              <a:buChar char="●"/>
            </a:pPr>
            <a:r>
              <a:rPr lang="en-US" sz="1200" dirty="0">
                <a:solidFill>
                  <a:srgbClr val="333333"/>
                </a:solidFill>
              </a:rPr>
              <a:t>Ethics: Bias, Transparency, Human Oversight, Verification (see Appendix)</a:t>
            </a:r>
          </a:p>
        </p:txBody>
      </p:sp>
      <p:sp>
        <p:nvSpPr>
          <p:cNvPr id="40" name="Divider"/>
          <p:cNvSpPr/>
          <p:nvPr/>
        </p:nvSpPr>
        <p:spPr>
          <a:xfrm>
            <a:off x="6150964" y="845877"/>
            <a:ext cx="0" cy="5715000"/>
          </a:xfrm>
          <a:prstGeom prst="line">
            <a:avLst/>
          </a:prstGeom>
          <a:ln w="38100">
            <a:solidFill>
              <a:schemeClr val="tx1"/>
            </a:solidFill>
          </a:ln>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3143</TotalTime>
  <Words>634</Words>
  <Application>Microsoft Office PowerPoint</Application>
  <PresentationFormat>Widescreen</PresentationFormat>
  <Paragraphs>43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RPR</dc:creator>
  <cp:lastModifiedBy>RPR</cp:lastModifiedBy>
  <cp:revision>20</cp:revision>
  <dcterms:created xsi:type="dcterms:W3CDTF">2026-05-25T17:22:25Z</dcterms:created>
  <dcterms:modified xsi:type="dcterms:W3CDTF">2026-06-06T23:42:09Z</dcterms:modified>
</cp:coreProperties>
</file>