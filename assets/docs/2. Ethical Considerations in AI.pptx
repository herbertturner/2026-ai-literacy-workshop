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7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5739" autoAdjust="0"/>
  </p:normalViewPr>
  <p:slideViewPr>
    <p:cSldViewPr snapToGrid="0">
      <p:cViewPr varScale="1">
        <p:scale>
          <a:sx n="85" d="100"/>
          <a:sy n="85" d="100"/>
        </p:scale>
        <p:origin x="7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9965D-031B-4574-B021-B20DEAEC26FF}"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6FAFDE-888B-43D1-85AA-88ADEEA0044D}" type="slidenum">
              <a:rPr lang="en-US" smtClean="0"/>
              <a:t>‹#›</a:t>
            </a:fld>
            <a:endParaRPr lang="en-US"/>
          </a:p>
        </p:txBody>
      </p:sp>
    </p:spTree>
    <p:extLst>
      <p:ext uri="{BB962C8B-B14F-4D97-AF65-F5344CB8AC3E}">
        <p14:creationId xmlns:p14="http://schemas.microsoft.com/office/powerpoint/2010/main" val="2306115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figure above</a:t>
            </a:r>
            <a:r>
              <a:rPr lang="en-US" dirty="0"/>
              <a:t> presents four essential ethical considerations for organizations integrating AI into their workflows. These are especially important for nonprofits and community-based organizations serving vulnerable populations.</a:t>
            </a:r>
          </a:p>
          <a:p>
            <a:r>
              <a:rPr lang="en-US" dirty="0"/>
              <a:t>1. Bias and Equity: AI models are trained on internet data that underrepresents many communities. A 2025 study by Candid’s AI Equity Project found that while 64% of nonprofits are now familiar with AI bias (up from 44% in 2024), only 36% are actively implementing equity practices — a figure that actually declined from 46% the prior year (One Hundred Nights, 2026). For fatherhood programs serving predominantly Black and Latino fathers, this means AI-generated content may carry implicit biases in tone, assumptions, and recommendations. Always review AI outputs through an equity lens before using them with participants.</a:t>
            </a:r>
          </a:p>
          <a:p>
            <a:r>
              <a:rPr lang="en-US" dirty="0"/>
              <a:t>2. Transparency and Disclosure: A 2025 Fundraising.AI survey found that 92% of donors deem it important that nonprofits clearly disclose where and why AI is used, how humans remain in control, and what evidence shows the technology works (One Hundred Nights, 2026). Practical guidance: When submitting AI-assisted grant proposals, include a brief disclosure statement. When sharing AI-generated content externally, note that AI was used as a drafting tool with human review and editing.</a:t>
            </a:r>
          </a:p>
          <a:p>
            <a:r>
              <a:rPr lang="en-US" dirty="0"/>
              <a:t>3. Human Oversight (Human-in-the-Loop): AI should augment human judgment, never replace it. This principle is especially critical for case notes, participant communications, crisis responses, and any document that affects a father’s services or benefits. The presenter should emphasize: AI is the starting point; your professional judgment is the finishing point.</a:t>
            </a:r>
          </a:p>
          <a:p>
            <a:r>
              <a:rPr lang="en-US" dirty="0"/>
              <a:t>4. Accuracy and Verification: As covered in the main presentation, 68% of AI citations come from just 15 domains. AI presents all information with equal confidence regardless of whether the underlying source is a peer-reviewed study or an anonymous forum post. For board reports, grant proposals, and funder communications, verification is not extra work — it is the baseline for professional use.</a:t>
            </a:r>
          </a:p>
          <a:p>
            <a:r>
              <a:rPr lang="en-US" dirty="0"/>
              <a:t>Sources: One Hundred Nights (2026). Ethical AI for nonprofits: How to use AI responsibly and transparently. Whole Whale (2025). Top nonprofit AI policies 2025: Analysis and trends. BDO (2025). Top AI risks facing the nonprofit sector. </a:t>
            </a:r>
            <a:r>
              <a:rPr lang="en-US"/>
              <a:t>NationBuilder</a:t>
            </a:r>
            <a:r>
              <a:rPr lang="en-US" dirty="0"/>
              <a:t> (2025). Responsible AI for nonprofits.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AD37-5FFD-843C-B67B-54857E90B9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357ED7-1D2D-8298-619F-0914A11522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921D86-DD04-233E-9EA7-F9FAC2896D70}"/>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B68D2E0-496A-A100-E20D-7B1251C45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BE2E2-2FFF-09E9-5388-3110DCFFFCF0}"/>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52474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39D11-17E1-F4F6-D755-EE4FF4713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6EC7F8-0453-BC48-13F3-A9CDBE353F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4D9CA-C8E3-7E8E-E125-76A4B64334D3}"/>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2F25F01F-EBD2-7B5C-7CFE-E11BDA5484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A18ED-884F-5565-696F-AA55D6EC263B}"/>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56442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C3C-B30F-6105-1E87-013C954D8A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17A44B-3FD6-6472-0C3A-9E6F4FB529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F2BB1-5D5D-2A68-0972-4F86D937C7A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E5BAAD70-DADB-40C6-E382-93ABD45A9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EF37C-1273-2089-3AF6-29B2AD5CEC18}"/>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51349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6128-B893-D664-B603-56FDDB908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5F5B82-D2A3-9A65-CD21-A2BDBD1579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DE8118-B704-695A-1591-0C7133E12D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1AA3AB-B1A3-AF1D-050D-BF277CF35B4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6436D383-AE78-FA3A-E8F8-B5A5CE64FC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9C34B8-9B33-3586-4FA6-A3F37ECDB536}"/>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224855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F899-45A4-F907-19D5-EA44096632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831A96-D43A-A257-0B1D-421FC0057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45B79-ACC6-5FD6-3E5D-579FA0C04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863D2C-B5E2-3929-3F79-02CE474286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0EFE1A-F97B-3920-D91A-93057F9B6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52BEC5-497D-7BBA-5810-2B098148DA9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8" name="Footer Placeholder 7">
            <a:extLst>
              <a:ext uri="{FF2B5EF4-FFF2-40B4-BE49-F238E27FC236}">
                <a16:creationId xmlns:a16="http://schemas.microsoft.com/office/drawing/2014/main" id="{4760E25C-4F42-B138-93D9-933F7086AF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07DB06-2D2C-5CBA-58AE-969DEF55AC16}"/>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80460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FA14-6AC4-F1BE-674A-068235536A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ADF7E9-4322-B31D-8DA5-0F2B234CD984}"/>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4" name="Footer Placeholder 3">
            <a:extLst>
              <a:ext uri="{FF2B5EF4-FFF2-40B4-BE49-F238E27FC236}">
                <a16:creationId xmlns:a16="http://schemas.microsoft.com/office/drawing/2014/main" id="{A6237361-C8F1-8FD7-4DD1-C115F447E8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D90A54-CEC7-CC6C-A9BB-F2222C586630}"/>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184173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CDA3CC-6E6C-A885-9EFE-64F2DEC9B7D7}"/>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3" name="Footer Placeholder 2">
            <a:extLst>
              <a:ext uri="{FF2B5EF4-FFF2-40B4-BE49-F238E27FC236}">
                <a16:creationId xmlns:a16="http://schemas.microsoft.com/office/drawing/2014/main" id="{ADA60FE1-D3DF-238F-EB4F-6A76973E8D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929C39-ACE1-A108-01E0-EEF5B1FD0384}"/>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215110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71F1-9FC7-76D9-FC77-0932844004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E3D721-99BC-9F0D-09E1-F345AABE9D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475784-3411-DD8B-3340-0F04F19F5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798061-9852-630A-2384-CB3FF61BE6C1}"/>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2B7A9065-9F6D-A6FB-6981-2C038368BC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5AC216-EC26-E6CF-7D46-0EC74DFFB6CD}"/>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923469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9875-A22C-430A-58A6-5A6F8FA67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F21886-3C64-8C20-5D37-A861203DBB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F49FF4-16DA-E626-FF64-D1F1526C22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E4B28-5BC5-D0A7-CD2D-EDFC6D87BC49}"/>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0914F9DA-EA80-51FC-1B6A-2D7F408752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C0B9-4E88-5979-EB96-6091351CE4C4}"/>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149061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7D37-B112-1D57-51D2-8FD757C734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FD93FD-4920-420A-AC20-5B4B9496E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17C23-0899-B2F4-3615-128BCCC508DD}"/>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3380696-E365-DFC2-C1B3-669DC52DA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50BBF-E473-E4C8-ACEE-A35285CC3E89}"/>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147486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DAA374-5FBF-C5E3-1FEF-96DF8945DF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44089C-567D-7CD5-8A2D-BD5D2C6FC2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470A41-EDDE-88EC-0461-674C7808FD3A}"/>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B65E7E2-BAC9-4D6B-ED24-6D23C63E8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9D57C-98F5-08E2-2D90-C6BA344FABFE}"/>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3876043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3BF697-245B-74B9-930B-5261FCEFCF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C9B03D-8D87-4332-FB64-2E6A6AFC6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96E34-8AE9-0D6B-0946-5C0D7D6DE3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027C5DB4-2386-017A-4710-0F736BAFE1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DF0061-89A9-8734-9ABC-56DC8588B9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BCDCA-A83E-437A-9EDB-37BC55F99CA3}" type="slidenum">
              <a:rPr lang="en-US" smtClean="0"/>
              <a:t>‹#›</a:t>
            </a:fld>
            <a:endParaRPr lang="en-US"/>
          </a:p>
        </p:txBody>
      </p:sp>
    </p:spTree>
    <p:extLst>
      <p:ext uri="{BB962C8B-B14F-4D97-AF65-F5344CB8AC3E}">
        <p14:creationId xmlns:p14="http://schemas.microsoft.com/office/powerpoint/2010/main" val="3362163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itle 1"/>
          <p:cNvSpPr>
            <a:spLocks noGrp="1"/>
          </p:cNvSpPr>
          <p:nvPr>
            <p:ph type="title"/>
          </p:nvPr>
        </p:nvSpPr>
        <p:spPr>
          <a:xfrm>
            <a:off x="0" y="0"/>
            <a:ext cx="1" cy="1"/>
          </a:xfrm>
          <a:prstGeom prst="rect">
            <a:avLst/>
          </a:prstGeom>
          <a:noFill/>
          <a:ln>
            <a:noFill/>
          </a:ln>
        </p:spPr>
        <p:txBody>
          <a:bodyPr>
            <a:normAutofit fontScale="90000"/>
          </a:bodyPr>
          <a:lstStyle/>
          <a:p>
            <a:endParaRPr lang="en-US"/>
          </a:p>
        </p:txBody>
      </p:sp>
      <p:sp>
        <p:nvSpPr>
          <p:cNvPr id="2" name="Background"/>
          <p:cNvSpPr/>
          <p:nvPr/>
        </p:nvSpPr>
        <p:spPr>
          <a:xfrm>
            <a:off x="0" y="0"/>
            <a:ext cx="12192000" cy="6858000"/>
          </a:xfrm>
          <a:prstGeom prst="rect">
            <a:avLst/>
          </a:prstGeom>
          <a:solidFill>
            <a:srgbClr val="544149"/>
          </a:solidFill>
          <a:ln>
            <a:noFill/>
          </a:ln>
        </p:spPr>
        <p:txBody>
          <a:bodyPr/>
          <a:lstStyle/>
          <a:p>
            <a:endParaRPr lang="en-US"/>
          </a:p>
        </p:txBody>
      </p:sp>
      <p:sp>
        <p:nvSpPr>
          <p:cNvPr id="3" name="White Card"/>
          <p:cNvSpPr/>
          <p:nvPr/>
        </p:nvSpPr>
        <p:spPr>
          <a:xfrm>
            <a:off x="477000" y="402186"/>
            <a:ext cx="11238000" cy="5904000"/>
          </a:xfrm>
          <a:prstGeom prst="rect">
            <a:avLst/>
          </a:prstGeom>
          <a:solidFill>
            <a:srgbClr val="FFFFFF"/>
          </a:solidFill>
          <a:ln>
            <a:noFill/>
          </a:ln>
        </p:spPr>
        <p:txBody>
          <a:bodyPr/>
          <a:lstStyle/>
          <a:p>
            <a:endParaRPr lang="en-US"/>
          </a:p>
        </p:txBody>
      </p:sp>
      <p:sp>
        <p:nvSpPr>
          <p:cNvPr id="5" name="Body Text"/>
          <p:cNvSpPr txBox="1"/>
          <p:nvPr/>
        </p:nvSpPr>
        <p:spPr>
          <a:xfrm>
            <a:off x="920819" y="1712422"/>
            <a:ext cx="10169976" cy="4206240"/>
          </a:xfrm>
          <a:prstGeom prst="rect">
            <a:avLst/>
          </a:prstGeom>
          <a:noFill/>
          <a:ln>
            <a:noFill/>
          </a:ln>
        </p:spPr>
        <p:txBody>
          <a:bodyPr wrap="square" rtlCol="0" anchor="t"/>
          <a:lstStyle/>
          <a:p>
            <a:pPr algn="l">
              <a:spcAft>
                <a:spcPts val="600"/>
              </a:spcAft>
            </a:pPr>
            <a:r>
              <a:rPr lang="en-US" sz="2000" u="sng" dirty="0">
                <a:effectLst>
                  <a:outerShdw blurRad="38100" dist="38100" dir="2700000" algn="tl">
                    <a:srgbClr val="000000">
                      <a:alpha val="43137"/>
                    </a:srgbClr>
                  </a:outerShdw>
                </a:effectLst>
              </a:rPr>
              <a:t>Consider This</a:t>
            </a:r>
            <a:r>
              <a:rPr lang="en-US" sz="2000" dirty="0"/>
              <a:t>: 82% of nonprofits use AI, but only 10% have formal policies. These four considerations close that gap.</a:t>
            </a:r>
          </a:p>
          <a:p>
            <a:pPr marL="457200" indent="-457200">
              <a:spcAft>
                <a:spcPts val="200"/>
              </a:spcAft>
              <a:buFont typeface="Wingdings" panose="05000000000000000000" pitchFamily="2" charset="2"/>
              <a:buChar char="q"/>
            </a:pPr>
            <a:r>
              <a:rPr lang="en-US" sz="1800" b="1" dirty="0">
                <a:solidFill>
                  <a:schemeClr val="accent1">
                    <a:lumMod val="75000"/>
                  </a:schemeClr>
                </a:solidFill>
              </a:rPr>
              <a:t>1. Bias and Equity </a:t>
            </a:r>
            <a:r>
              <a:rPr lang="en-US" sz="1800" dirty="0">
                <a:solidFill>
                  <a:srgbClr val="404040"/>
                </a:solidFill>
              </a:rPr>
              <a:t>— AI models reflect training data biases. Content generated for your populations may carry implicit assumptions about race, class, or family structure. Review all AI outputs through an equity lens.</a:t>
            </a:r>
          </a:p>
          <a:p>
            <a:pPr marL="457200" indent="-457200">
              <a:spcBef>
                <a:spcPts val="600"/>
              </a:spcBef>
              <a:spcAft>
                <a:spcPts val="200"/>
              </a:spcAft>
              <a:buFont typeface="Wingdings" panose="05000000000000000000" pitchFamily="2" charset="2"/>
              <a:buChar char="q"/>
            </a:pPr>
            <a:r>
              <a:rPr lang="en-US" sz="1800" b="1" dirty="0">
                <a:solidFill>
                  <a:schemeClr val="accent1">
                    <a:lumMod val="75000"/>
                  </a:schemeClr>
                </a:solidFill>
              </a:rPr>
              <a:t>2. Transparency and Disclosure </a:t>
            </a:r>
            <a:r>
              <a:rPr lang="en-US" sz="1800" dirty="0">
                <a:solidFill>
                  <a:srgbClr val="404040"/>
                </a:solidFill>
              </a:rPr>
              <a:t>— 92% of donors say nonprofits should disclose AI use. Be open about when and how AI assisted in creating documents, proposals, and communications.</a:t>
            </a:r>
          </a:p>
          <a:p>
            <a:pPr marL="457200" indent="-457200">
              <a:spcBef>
                <a:spcPts val="600"/>
              </a:spcBef>
              <a:spcAft>
                <a:spcPts val="200"/>
              </a:spcAft>
              <a:buFont typeface="Wingdings" panose="05000000000000000000" pitchFamily="2" charset="2"/>
              <a:buChar char="q"/>
            </a:pPr>
            <a:r>
              <a:rPr lang="en-US" sz="1800" b="1" dirty="0">
                <a:solidFill>
                  <a:schemeClr val="accent1">
                    <a:lumMod val="75000"/>
                  </a:schemeClr>
                </a:solidFill>
              </a:rPr>
              <a:t>3. Human Oversight </a:t>
            </a:r>
            <a:r>
              <a:rPr lang="en-US" sz="1800" dirty="0">
                <a:solidFill>
                  <a:srgbClr val="404040"/>
                </a:solidFill>
              </a:rPr>
              <a:t>— Every AI output must be reviewed by a qualified human before use. This is especially critical for case notes, participant communications, and documents involving vulnerable populations.</a:t>
            </a:r>
          </a:p>
          <a:p>
            <a:pPr marL="457200" indent="-457200">
              <a:spcBef>
                <a:spcPts val="600"/>
              </a:spcBef>
              <a:spcAft>
                <a:spcPts val="200"/>
              </a:spcAft>
              <a:buFont typeface="Wingdings" panose="05000000000000000000" pitchFamily="2" charset="2"/>
              <a:buChar char="q"/>
            </a:pPr>
            <a:r>
              <a:rPr lang="en-US" sz="1800" b="1" dirty="0">
                <a:solidFill>
                  <a:schemeClr val="accent1">
                    <a:lumMod val="75000"/>
                  </a:schemeClr>
                </a:solidFill>
              </a:rPr>
              <a:t>4. Accuracy and Verification </a:t>
            </a:r>
            <a:r>
              <a:rPr lang="en-US" sz="1800" dirty="0">
                <a:solidFill>
                  <a:srgbClr val="404040"/>
                </a:solidFill>
              </a:rPr>
              <a:t>— AI presents all information with equal confidence regardless of source quality. Verify every statistic, citation, and factual claim against primary sources before including in professional documents.</a:t>
            </a:r>
          </a:p>
          <a:p>
            <a:pPr algn="r">
              <a:spcBef>
                <a:spcPts val="600"/>
              </a:spcBef>
            </a:pPr>
            <a:r>
              <a:rPr lang="en-US" sz="1200" i="1">
                <a:solidFill>
                  <a:srgbClr val="808080"/>
                </a:solidFill>
              </a:rPr>
              <a:t>Sources: One Hundred Nights (2026), Whole Whale (2025), BDO (2025), NationBuilder (2025)</a:t>
            </a:r>
          </a:p>
        </p:txBody>
      </p:sp>
      <p:sp>
        <p:nvSpPr>
          <p:cNvPr id="12" name="Title Bar"/>
          <p:cNvSpPr txBox="1"/>
          <p:nvPr/>
        </p:nvSpPr>
        <p:spPr>
          <a:xfrm>
            <a:off x="920819" y="727023"/>
            <a:ext cx="10111787" cy="860266"/>
          </a:xfrm>
          <a:prstGeom prst="rect">
            <a:avLst/>
          </a:prstGeom>
          <a:solidFill>
            <a:schemeClr val="bg1">
              <a:lumMod val="95000"/>
            </a:schemeClr>
          </a:solidFill>
          <a:ln w="9525">
            <a:noFill/>
          </a:ln>
        </p:spPr>
        <p:txBody>
          <a:bodyPr wrap="square" rtlCol="0" anchor="ctr">
            <a:spAutoFit/>
          </a:bodyPr>
          <a:lstStyle/>
          <a:p>
            <a:r>
              <a:rPr lang="en-US" sz="3600"/>
              <a:t>Ethical AI: Four Considerations for Your Organization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3144</TotalTime>
  <Words>621</Words>
  <Application>Microsoft Office PowerPoint</Application>
  <PresentationFormat>Widescreen</PresentationFormat>
  <Paragraphs>13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RPR</dc:creator>
  <cp:lastModifiedBy>RPR</cp:lastModifiedBy>
  <cp:revision>20</cp:revision>
  <dcterms:created xsi:type="dcterms:W3CDTF">2026-05-25T17:22:25Z</dcterms:created>
  <dcterms:modified xsi:type="dcterms:W3CDTF">2026-06-06T23:35:01Z</dcterms:modified>
</cp:coreProperties>
</file>