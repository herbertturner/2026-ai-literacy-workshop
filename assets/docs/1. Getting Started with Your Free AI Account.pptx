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372"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5739" autoAdjust="0"/>
  </p:normalViewPr>
  <p:slideViewPr>
    <p:cSldViewPr snapToGrid="0">
      <p:cViewPr varScale="1">
        <p:scale>
          <a:sx n="85" d="100"/>
          <a:sy n="85" d="100"/>
        </p:scale>
        <p:origin x="70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09965D-031B-4574-B021-B20DEAEC26FF}" type="datetimeFigureOut">
              <a:rPr lang="en-US" smtClean="0"/>
              <a:t>6/6/2026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6FAFDE-888B-43D1-85AA-88ADEEA0044D}" type="slidenum">
              <a:rPr lang="en-US" smtClean="0"/>
              <a:t>‹#›</a:t>
            </a:fld>
            <a:endParaRPr lang="en-US"/>
          </a:p>
        </p:txBody>
      </p:sp>
    </p:spTree>
    <p:extLst>
      <p:ext uri="{BB962C8B-B14F-4D97-AF65-F5344CB8AC3E}">
        <p14:creationId xmlns:p14="http://schemas.microsoft.com/office/powerpoint/2010/main" val="2306115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discussed in the main session, the best AI tool is the one that integrates with the productivity software your team already uses every day. That ecosystem-alignment principle should guide which platform you sign up for first. If your organization runs Google Workspace, start with Gemini. If you are on Microsoft 365, start with Copilot. The figure above</a:t>
            </a:r>
            <a:r>
              <a:rPr lang="en-US" dirty="0"/>
              <a:t> provides the literal step-by-step instructions for creating your first AI account. All three platforms offer free tiers with real, usable capabilities.</a:t>
            </a:r>
          </a:p>
          <a:p>
            <a:r>
              <a:rPr lang="en-US" dirty="0"/>
              <a:t>Google Gemini: Visit gemini.google.com and sign in with any existing Google account (Gmail, Google Workspace). No separate registration is needed. The free tier provides access to the Gemini model, image generation, and basic features. Upgrading to AI Plus ($7.99/month) or AI Pro ($19.99/month) unlocks deeper integration with Google Workspace apps. Source: Google AI subscription page (</a:t>
            </a:r>
            <a:r>
              <a:rPr lang="en-US" dirty="0" err="1"/>
              <a:t>gemini.google</a:t>
            </a:r>
            <a:r>
              <a:rPr lang="en-US" dirty="0"/>
              <a:t>, 2026); </a:t>
            </a:r>
            <a:r>
              <a:rPr lang="en-US" dirty="0" err="1"/>
              <a:t>Suprmind</a:t>
            </a:r>
            <a:r>
              <a:rPr lang="en-US" dirty="0"/>
              <a:t> Gemini Pricing Guide (2026).</a:t>
            </a:r>
          </a:p>
          <a:p>
            <a:r>
              <a:rPr lang="en-US" dirty="0"/>
              <a:t>Microsoft Copilot: Visit copilot.microsoft.com and sign in with any Microsoft account (Outlook, Hotmail, or organizational account). The free tier offers web-grounded AI chat. Microsoft 365 Personal ($9.99/month) includes Copilot in Word, Excel, and PowerPoint. Copilot Pro ($20/month) adds priority model access. Source: Microsoft 365 Copilot pricing page (microsoft.com, 2026); </a:t>
            </a:r>
            <a:r>
              <a:rPr lang="en-US" dirty="0" err="1"/>
              <a:t>DataStudios</a:t>
            </a:r>
            <a:r>
              <a:rPr lang="en-US" dirty="0"/>
              <a:t> Copilot pricing guide (2025).</a:t>
            </a:r>
          </a:p>
          <a:p>
            <a:r>
              <a:rPr lang="en-US" dirty="0"/>
              <a:t>Grammarly: Visit grammarly.com and click Create account. You can register with email, Google, or Apple sign-in. Install the free browser extension for Chrome, Edge, Firefox, or Safari. The free tier includes grammar, spelling, tone detection, and 100 AI prompts per month. Pro ($12/month on annual billing) adds full-sentence rewrites, plagiarism detection, and 2,000 AI prompts. Source: Grammarly Plans page (grammarly.com, 2026); </a:t>
            </a:r>
            <a:r>
              <a:rPr lang="en-US" dirty="0" err="1"/>
              <a:t>ShelbyAI</a:t>
            </a:r>
            <a:r>
              <a:rPr lang="en-US" dirty="0"/>
              <a:t> Grammarly Pricing Comparison (2026).</a:t>
            </a:r>
          </a:p>
          <a:p>
            <a:r>
              <a:rPr lang="en-US" dirty="0"/>
              <a:t>Remind participants: Before you buy anything new, check what you already have. Many organizations already pay for Google Workspace or Microsoft 365 and have AI capabilities they are not yet using.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AD37-5FFD-843C-B67B-54857E90B9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357ED7-1D2D-8298-619F-0914A11522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921D86-DD04-233E-9EA7-F9FAC2896D70}"/>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4B68D2E0-496A-A100-E20D-7B1251C45C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7BE2E2-2FFF-09E9-5388-3110DCFFFCF0}"/>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252474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39D11-17E1-F4F6-D755-EE4FF4713E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6EC7F8-0453-BC48-13F3-A9CDBE353F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74D9CA-C8E3-7E8E-E125-76A4B64334D3}"/>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2F25F01F-EBD2-7B5C-7CFE-E11BDA5484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0A18ED-884F-5565-696F-AA55D6EC263B}"/>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456442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3C3C-B30F-6105-1E87-013C954D8A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17A44B-3FD6-6472-0C3A-9E6F4FB529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0F2BB1-5D5D-2A68-0972-4F86D937C7AB}"/>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E5BAAD70-DADB-40C6-E382-93ABD45A9D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1EF37C-1273-2089-3AF6-29B2AD5CEC18}"/>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51349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46128-B893-D664-B603-56FDDB908F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5F5B82-D2A3-9A65-CD21-A2BDBD1579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DE8118-B704-695A-1591-0C7133E12D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1AA3AB-B1A3-AF1D-050D-BF277CF35B4B}"/>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6" name="Footer Placeholder 5">
            <a:extLst>
              <a:ext uri="{FF2B5EF4-FFF2-40B4-BE49-F238E27FC236}">
                <a16:creationId xmlns:a16="http://schemas.microsoft.com/office/drawing/2014/main" id="{6436D383-AE78-FA3A-E8F8-B5A5CE64FC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9C34B8-9B33-3586-4FA6-A3F37ECDB536}"/>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4224855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CF899-45A4-F907-19D5-EA440966326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831A96-D43A-A257-0B1D-421FC0057A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345B79-ACC6-5FD6-3E5D-579FA0C043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863D2C-B5E2-3929-3F79-02CE474286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0EFE1A-F97B-3920-D91A-93057F9B6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52BEC5-497D-7BBA-5810-2B098148DA9B}"/>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8" name="Footer Placeholder 7">
            <a:extLst>
              <a:ext uri="{FF2B5EF4-FFF2-40B4-BE49-F238E27FC236}">
                <a16:creationId xmlns:a16="http://schemas.microsoft.com/office/drawing/2014/main" id="{4760E25C-4F42-B138-93D9-933F7086AF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07DB06-2D2C-5CBA-58AE-969DEF55AC16}"/>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804601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CFA14-6AC4-F1BE-674A-068235536A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ADF7E9-4322-B31D-8DA5-0F2B234CD984}"/>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4" name="Footer Placeholder 3">
            <a:extLst>
              <a:ext uri="{FF2B5EF4-FFF2-40B4-BE49-F238E27FC236}">
                <a16:creationId xmlns:a16="http://schemas.microsoft.com/office/drawing/2014/main" id="{A6237361-C8F1-8FD7-4DD1-C115F447E8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D90A54-CEC7-CC6C-A9BB-F2222C586630}"/>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1841735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CDA3CC-6E6C-A885-9EFE-64F2DEC9B7D7}"/>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3" name="Footer Placeholder 2">
            <a:extLst>
              <a:ext uri="{FF2B5EF4-FFF2-40B4-BE49-F238E27FC236}">
                <a16:creationId xmlns:a16="http://schemas.microsoft.com/office/drawing/2014/main" id="{ADA60FE1-D3DF-238F-EB4F-6A76973E8D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929C39-ACE1-A108-01E0-EEF5B1FD0384}"/>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2215110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971F1-9FC7-76D9-FC77-0932844004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E3D721-99BC-9F0D-09E1-F345AABE9D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475784-3411-DD8B-3340-0F04F19F5D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798061-9852-630A-2384-CB3FF61BE6C1}"/>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6" name="Footer Placeholder 5">
            <a:extLst>
              <a:ext uri="{FF2B5EF4-FFF2-40B4-BE49-F238E27FC236}">
                <a16:creationId xmlns:a16="http://schemas.microsoft.com/office/drawing/2014/main" id="{2B7A9065-9F6D-A6FB-6981-2C038368BC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5AC216-EC26-E6CF-7D46-0EC74DFFB6CD}"/>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923469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E9875-A22C-430A-58A6-5A6F8FA67B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F21886-3C64-8C20-5D37-A861203DBB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F49FF4-16DA-E626-FF64-D1F1526C22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BE4B28-5BC5-D0A7-CD2D-EDFC6D87BC49}"/>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6" name="Footer Placeholder 5">
            <a:extLst>
              <a:ext uri="{FF2B5EF4-FFF2-40B4-BE49-F238E27FC236}">
                <a16:creationId xmlns:a16="http://schemas.microsoft.com/office/drawing/2014/main" id="{0914F9DA-EA80-51FC-1B6A-2D7F408752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D7C0B9-4E88-5979-EB96-6091351CE4C4}"/>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2149061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57D37-B112-1D57-51D2-8FD757C734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FD93FD-4920-420A-AC20-5B4B9496EE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817C23-0899-B2F4-3615-128BCCC508DD}"/>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43380696-E365-DFC2-C1B3-669DC52DA6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50BBF-E473-E4C8-ACEE-A35285CC3E89}"/>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4147486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DAA374-5FBF-C5E3-1FEF-96DF8945DF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44089C-567D-7CD5-8A2D-BD5D2C6FC2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470A41-EDDE-88EC-0461-674C7808FD3A}"/>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4B65E7E2-BAC9-4D6B-ED24-6D23C63E88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39D57C-98F5-08E2-2D90-C6BA344FABFE}"/>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3876043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3BF697-245B-74B9-930B-5261FCEFCF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C9B03D-8D87-4332-FB64-2E6A6AFC62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696E34-8AE9-0D6B-0946-5C0D7D6DE3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027C5DB4-2386-017A-4710-0F736BAFE1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3DF0061-89A9-8734-9ABC-56DC8588B9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CBCDCA-A83E-437A-9EDB-37BC55F99CA3}" type="slidenum">
              <a:rPr lang="en-US" smtClean="0"/>
              <a:t>‹#›</a:t>
            </a:fld>
            <a:endParaRPr lang="en-US"/>
          </a:p>
        </p:txBody>
      </p:sp>
    </p:spTree>
    <p:extLst>
      <p:ext uri="{BB962C8B-B14F-4D97-AF65-F5344CB8AC3E}">
        <p14:creationId xmlns:p14="http://schemas.microsoft.com/office/powerpoint/2010/main" val="3362163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itle 1"/>
          <p:cNvSpPr>
            <a:spLocks noGrp="1"/>
          </p:cNvSpPr>
          <p:nvPr>
            <p:ph type="title"/>
          </p:nvPr>
        </p:nvSpPr>
        <p:spPr>
          <a:xfrm>
            <a:off x="0" y="0"/>
            <a:ext cx="1" cy="1"/>
          </a:xfrm>
          <a:prstGeom prst="rect">
            <a:avLst/>
          </a:prstGeom>
          <a:noFill/>
          <a:ln>
            <a:noFill/>
          </a:ln>
        </p:spPr>
        <p:txBody>
          <a:bodyPr>
            <a:normAutofit fontScale="90000"/>
          </a:bodyPr>
          <a:lstStyle/>
          <a:p>
            <a:endParaRPr lang="en-US"/>
          </a:p>
        </p:txBody>
      </p:sp>
      <p:sp>
        <p:nvSpPr>
          <p:cNvPr id="2" name="Background"/>
          <p:cNvSpPr/>
          <p:nvPr/>
        </p:nvSpPr>
        <p:spPr>
          <a:xfrm>
            <a:off x="0" y="0"/>
            <a:ext cx="12192000" cy="6858000"/>
          </a:xfrm>
          <a:prstGeom prst="rect">
            <a:avLst/>
          </a:prstGeom>
          <a:solidFill>
            <a:srgbClr val="544149"/>
          </a:solidFill>
          <a:ln>
            <a:noFill/>
          </a:ln>
        </p:spPr>
        <p:txBody>
          <a:bodyPr/>
          <a:lstStyle/>
          <a:p>
            <a:endParaRPr lang="en-US"/>
          </a:p>
        </p:txBody>
      </p:sp>
      <p:sp>
        <p:nvSpPr>
          <p:cNvPr id="3" name="White Card"/>
          <p:cNvSpPr/>
          <p:nvPr/>
        </p:nvSpPr>
        <p:spPr>
          <a:xfrm>
            <a:off x="477000" y="402186"/>
            <a:ext cx="11238000" cy="5904000"/>
          </a:xfrm>
          <a:prstGeom prst="rect">
            <a:avLst/>
          </a:prstGeom>
          <a:solidFill>
            <a:srgbClr val="FFFFFF"/>
          </a:solidFill>
          <a:ln>
            <a:noFill/>
          </a:ln>
        </p:spPr>
        <p:txBody>
          <a:bodyPr/>
          <a:lstStyle/>
          <a:p>
            <a:endParaRPr lang="en-US"/>
          </a:p>
        </p:txBody>
      </p:sp>
      <p:sp>
        <p:nvSpPr>
          <p:cNvPr id="5" name="Body Text"/>
          <p:cNvSpPr txBox="1"/>
          <p:nvPr/>
        </p:nvSpPr>
        <p:spPr>
          <a:xfrm>
            <a:off x="920819" y="1547405"/>
            <a:ext cx="10169976" cy="4454384"/>
          </a:xfrm>
          <a:prstGeom prst="rect">
            <a:avLst/>
          </a:prstGeom>
          <a:noFill/>
          <a:ln>
            <a:noFill/>
          </a:ln>
        </p:spPr>
        <p:txBody>
          <a:bodyPr wrap="square" rtlCol="0" anchor="t"/>
          <a:lstStyle/>
          <a:p>
            <a:pPr algn="l">
              <a:spcAft>
                <a:spcPts val="800"/>
              </a:spcAft>
            </a:pPr>
            <a:r>
              <a:rPr lang="en-US" sz="2000" u="sng" dirty="0">
                <a:effectLst>
                  <a:outerShdw blurRad="38100" dist="38100" dir="2700000" algn="tl">
                    <a:srgbClr val="000000">
                      <a:alpha val="43137"/>
                    </a:srgbClr>
                  </a:outerShdw>
                </a:effectLst>
              </a:rPr>
              <a:t>Consider This</a:t>
            </a:r>
            <a:r>
              <a:rPr lang="en-US" sz="2000" dirty="0"/>
              <a:t>: You do not need a budget to start. All three platforms offer free tiers with real capabilities.</a:t>
            </a:r>
          </a:p>
          <a:p>
            <a:pPr algn="l">
              <a:spcAft>
                <a:spcPts val="600"/>
              </a:spcAft>
            </a:pPr>
            <a:r>
              <a:rPr lang="en-US" sz="2000" dirty="0">
                <a:solidFill>
                  <a:srgbClr val="ED7D31"/>
                </a:solidFill>
                <a:effectLst>
                  <a:outerShdw blurRad="38100" dist="38100" dir="2700000" algn="tl">
                    <a:srgbClr val="000000">
                      <a:alpha val="43137"/>
                    </a:srgbClr>
                  </a:outerShdw>
                </a:effectLst>
              </a:rPr>
              <a:t>Google Gemini</a:t>
            </a:r>
          </a:p>
          <a:p>
            <a:pPr marL="457200" indent="-457200">
              <a:spcAft>
                <a:spcPts val="200"/>
              </a:spcAft>
              <a:buFont typeface="Wingdings" panose="05000000000000000000" pitchFamily="2" charset="2"/>
              <a:buChar char="q"/>
            </a:pPr>
            <a:r>
              <a:rPr lang="en-US" dirty="0">
                <a:solidFill>
                  <a:srgbClr val="404040"/>
                </a:solidFill>
              </a:rPr>
              <a:t>Go to </a:t>
            </a:r>
            <a:r>
              <a:rPr lang="en-US" b="1" dirty="0">
                <a:solidFill>
                  <a:srgbClr val="2E75B6"/>
                </a:solidFill>
              </a:rPr>
              <a:t>gemini.google.com</a:t>
            </a:r>
            <a:r>
              <a:rPr lang="en-US" dirty="0">
                <a:solidFill>
                  <a:srgbClr val="404040"/>
                </a:solidFill>
              </a:rPr>
              <a:t> → Sign in with any Google account → Start chatting</a:t>
            </a:r>
          </a:p>
          <a:p>
            <a:pPr marL="457200" indent="-457200">
              <a:spcAft>
                <a:spcPts val="600"/>
              </a:spcAft>
              <a:buFont typeface="Wingdings" panose="05000000000000000000" pitchFamily="2" charset="2"/>
              <a:buChar char="q"/>
            </a:pPr>
            <a:r>
              <a:rPr lang="en-US" dirty="0">
                <a:solidFill>
                  <a:srgbClr val="404040"/>
                </a:solidFill>
              </a:rPr>
              <a:t>Free: $0 | AI Plus: $7.99/</a:t>
            </a:r>
            <a:r>
              <a:rPr lang="en-US" dirty="0" err="1">
                <a:solidFill>
                  <a:srgbClr val="404040"/>
                </a:solidFill>
              </a:rPr>
              <a:t>mo</a:t>
            </a:r>
            <a:r>
              <a:rPr lang="en-US" dirty="0">
                <a:solidFill>
                  <a:srgbClr val="404040"/>
                </a:solidFill>
              </a:rPr>
              <a:t> | AI Pro: $19.99/month (integrates with Gmail, Docs, Sheets)</a:t>
            </a:r>
          </a:p>
          <a:p>
            <a:pPr algn="l">
              <a:spcAft>
                <a:spcPts val="600"/>
              </a:spcAft>
            </a:pPr>
            <a:r>
              <a:rPr lang="en-US" sz="2000" dirty="0">
                <a:solidFill>
                  <a:schemeClr val="accent1">
                    <a:lumMod val="75000"/>
                  </a:schemeClr>
                </a:solidFill>
                <a:effectLst>
                  <a:outerShdw blurRad="38100" dist="38100" dir="2700000" algn="tl">
                    <a:srgbClr val="000000">
                      <a:alpha val="43137"/>
                    </a:srgbClr>
                  </a:outerShdw>
                </a:effectLst>
              </a:rPr>
              <a:t>Microsoft Copilot</a:t>
            </a:r>
          </a:p>
          <a:p>
            <a:pPr marL="457200" indent="-457200">
              <a:spcAft>
                <a:spcPts val="200"/>
              </a:spcAft>
              <a:buFont typeface="Wingdings" panose="05000000000000000000" pitchFamily="2" charset="2"/>
              <a:buChar char="q"/>
            </a:pPr>
            <a:r>
              <a:rPr lang="en-US" sz="1600" dirty="0">
                <a:solidFill>
                  <a:srgbClr val="404040"/>
                </a:solidFill>
              </a:rPr>
              <a:t>Go to </a:t>
            </a:r>
            <a:r>
              <a:rPr lang="en-US" sz="1600" b="1" dirty="0">
                <a:solidFill>
                  <a:srgbClr val="2E75B6"/>
                </a:solidFill>
              </a:rPr>
              <a:t>copilot.microsoft.com</a:t>
            </a:r>
            <a:r>
              <a:rPr lang="en-US" sz="1600" dirty="0">
                <a:solidFill>
                  <a:srgbClr val="404040"/>
                </a:solidFill>
              </a:rPr>
              <a:t> → Sign in with any Microsoft account → Start chatting</a:t>
            </a:r>
          </a:p>
          <a:p>
            <a:pPr marL="457200" indent="-457200">
              <a:spcAft>
                <a:spcPts val="600"/>
              </a:spcAft>
              <a:buFont typeface="Wingdings" panose="05000000000000000000" pitchFamily="2" charset="2"/>
              <a:buChar char="q"/>
            </a:pPr>
            <a:r>
              <a:rPr lang="en-US" sz="1600" dirty="0">
                <a:solidFill>
                  <a:srgbClr val="404040"/>
                </a:solidFill>
              </a:rPr>
              <a:t>Free: $0 | M365 Personal: $9.99/</a:t>
            </a:r>
            <a:r>
              <a:rPr lang="en-US" sz="1600" dirty="0" err="1">
                <a:solidFill>
                  <a:srgbClr val="404040"/>
                </a:solidFill>
              </a:rPr>
              <a:t>mo</a:t>
            </a:r>
            <a:r>
              <a:rPr lang="en-US" sz="1600" dirty="0">
                <a:solidFill>
                  <a:srgbClr val="404040"/>
                </a:solidFill>
              </a:rPr>
              <a:t> | Copilot Pro: $20/month (integrates with Word, Excel, Outlook)</a:t>
            </a:r>
          </a:p>
          <a:p>
            <a:pPr algn="l">
              <a:spcAft>
                <a:spcPts val="600"/>
              </a:spcAft>
            </a:pPr>
            <a:r>
              <a:rPr lang="en-US" sz="2000" b="1" dirty="0">
                <a:solidFill>
                  <a:schemeClr val="accent6">
                    <a:lumMod val="75000"/>
                  </a:schemeClr>
                </a:solidFill>
              </a:rPr>
              <a:t>Grammarly</a:t>
            </a:r>
          </a:p>
          <a:p>
            <a:pPr marL="457200" indent="-457200">
              <a:spcAft>
                <a:spcPts val="200"/>
              </a:spcAft>
              <a:buFont typeface="Wingdings" panose="05000000000000000000" pitchFamily="2" charset="2"/>
              <a:buChar char="q"/>
            </a:pPr>
            <a:r>
              <a:rPr lang="en-US" sz="1600" dirty="0">
                <a:solidFill>
                  <a:srgbClr val="404040"/>
                </a:solidFill>
              </a:rPr>
              <a:t>Go to </a:t>
            </a:r>
            <a:r>
              <a:rPr lang="en-US" sz="1600" b="1" dirty="0">
                <a:solidFill>
                  <a:srgbClr val="2E75B6"/>
                </a:solidFill>
              </a:rPr>
              <a:t>grammarly.com</a:t>
            </a:r>
            <a:r>
              <a:rPr lang="en-US" sz="1600" dirty="0">
                <a:solidFill>
                  <a:srgbClr val="404040"/>
                </a:solidFill>
              </a:rPr>
              <a:t> → Click “Create account” → Use email, Google, or Apple sign-in → Install browser extension</a:t>
            </a:r>
          </a:p>
          <a:p>
            <a:pPr marL="457200" indent="-457200">
              <a:spcAft>
                <a:spcPts val="600"/>
              </a:spcAft>
              <a:buFont typeface="Wingdings" panose="05000000000000000000" pitchFamily="2" charset="2"/>
              <a:buChar char="q"/>
            </a:pPr>
            <a:r>
              <a:rPr lang="en-US" sz="1600" dirty="0">
                <a:solidFill>
                  <a:srgbClr val="404040"/>
                </a:solidFill>
              </a:rPr>
              <a:t>Free: $0 (grammar, spelling, 100 AI prompts/</a:t>
            </a:r>
            <a:r>
              <a:rPr lang="en-US" sz="1600" dirty="0" err="1">
                <a:solidFill>
                  <a:srgbClr val="404040"/>
                </a:solidFill>
              </a:rPr>
              <a:t>mo</a:t>
            </a:r>
            <a:r>
              <a:rPr lang="en-US" sz="1600" dirty="0">
                <a:solidFill>
                  <a:srgbClr val="404040"/>
                </a:solidFill>
              </a:rPr>
              <a:t>) | Pro: $12/</a:t>
            </a:r>
            <a:r>
              <a:rPr lang="en-US" sz="1600" dirty="0" err="1">
                <a:solidFill>
                  <a:srgbClr val="404040"/>
                </a:solidFill>
              </a:rPr>
              <a:t>mo</a:t>
            </a:r>
            <a:r>
              <a:rPr lang="en-US" sz="1600" dirty="0">
                <a:solidFill>
                  <a:srgbClr val="404040"/>
                </a:solidFill>
              </a:rPr>
              <a:t> annual (full rewrites, plagiarism check)</a:t>
            </a:r>
          </a:p>
          <a:p>
            <a:pPr algn="ctr">
              <a:spcBef>
                <a:spcPts val="400"/>
              </a:spcBef>
            </a:pPr>
            <a:br>
              <a:rPr lang="en-US" sz="1600" b="1" dirty="0">
                <a:solidFill>
                  <a:srgbClr val="C00000"/>
                </a:solidFill>
              </a:rPr>
            </a:br>
            <a:r>
              <a:rPr lang="en-US" sz="2400" b="1" dirty="0"/>
              <a:t>Strategy: Start Free → Learn the Tools → Upgrade Only on Demonstrated Value</a:t>
            </a:r>
          </a:p>
        </p:txBody>
      </p:sp>
      <p:sp>
        <p:nvSpPr>
          <p:cNvPr id="12" name="Title Bar"/>
          <p:cNvSpPr txBox="1"/>
          <p:nvPr/>
        </p:nvSpPr>
        <p:spPr>
          <a:xfrm>
            <a:off x="979008" y="656173"/>
            <a:ext cx="9774336" cy="745310"/>
          </a:xfrm>
          <a:prstGeom prst="rect">
            <a:avLst/>
          </a:prstGeom>
          <a:solidFill>
            <a:schemeClr val="bg1">
              <a:lumMod val="95000"/>
            </a:schemeClr>
          </a:solidFill>
          <a:ln w="9525">
            <a:noFill/>
          </a:ln>
        </p:spPr>
        <p:txBody>
          <a:bodyPr wrap="square" rtlCol="0">
            <a:spAutoFit/>
          </a:bodyPr>
          <a:lstStyle/>
          <a:p>
            <a:r>
              <a:rPr lang="en-US" sz="3600" dirty="0"/>
              <a:t>Getting Started: Your First AI Account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3143</TotalTime>
  <Words>590</Words>
  <Application>Microsoft Office PowerPoint</Application>
  <PresentationFormat>Widescreen</PresentationFormat>
  <Paragraphs>17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RPR</dc:creator>
  <cp:lastModifiedBy>RPR</cp:lastModifiedBy>
  <cp:revision>20</cp:revision>
  <dcterms:created xsi:type="dcterms:W3CDTF">2026-05-25T17:22:25Z</dcterms:created>
  <dcterms:modified xsi:type="dcterms:W3CDTF">2026-06-06T23:31:46Z</dcterms:modified>
</cp:coreProperties>
</file>